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72" r:id="rId6"/>
    <p:sldMasterId id="2147483684" r:id="rId7"/>
    <p:sldMasterId id="214748369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</p:sldIdLst>
  <p:sldSz cy="6858000" cx="12192000"/>
  <p:notesSz cx="6858000" cy="9144000"/>
  <p:embeddedFontLst>
    <p:embeddedFont>
      <p:font typeface="Garamond"/>
      <p:regular r:id="rId45"/>
      <p:bold r:id="rId46"/>
      <p:italic r:id="rId47"/>
      <p:boldItalic r:id="rId48"/>
    </p:embeddedFont>
    <p:embeddedFont>
      <p:font typeface="Open Sans"/>
      <p:regular r:id="rId49"/>
      <p:bold r:id="rId50"/>
      <p:italic r:id="rId51"/>
      <p:boldItalic r:id="rId52"/>
    </p:embeddedFont>
    <p:embeddedFont>
      <p:font typeface="Century Gothic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7" roundtripDataSignature="AMtx7miRNjEtqTmAc2Vwgz0RtcgI5W36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632ACA-1FF6-4B57-A641-BF4D07396B35}">
  <a:tblStyle styleId="{83632ACA-1FF6-4B57-A641-BF4D07396B35}" styleName="Table_0">
    <a:wholeTbl>
      <a:tcTxStyle b="off" i="off">
        <a:font>
          <a:latin typeface="Avenir Next LT Pro"/>
          <a:ea typeface="Avenir Next LT Pro"/>
          <a:cs typeface="Avenir Next LT Pro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4EF"/>
          </a:solidFill>
        </a:fill>
      </a:tcStyle>
    </a:wholeTbl>
    <a:band1H>
      <a:tcTxStyle/>
      <a:tcStyle>
        <a:fill>
          <a:solidFill>
            <a:srgbClr val="CBE8DE"/>
          </a:solidFill>
        </a:fill>
      </a:tcStyle>
    </a:band1H>
    <a:band2H>
      <a:tcTxStyle/>
    </a:band2H>
    <a:band1V>
      <a:tcTxStyle/>
      <a:tcStyle>
        <a:fill>
          <a:solidFill>
            <a:srgbClr val="CBE8DE"/>
          </a:solidFill>
        </a:fill>
      </a:tcStyle>
    </a:band1V>
    <a:band2V>
      <a:tcTxStyle/>
    </a:band2V>
    <a:lastCol>
      <a:tcTxStyle b="on" i="off">
        <a:font>
          <a:latin typeface="Avenir Next LT Pro"/>
          <a:ea typeface="Avenir Next LT Pro"/>
          <a:cs typeface="Avenir Next LT Pro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venir Next LT Pro"/>
          <a:ea typeface="Avenir Next LT Pro"/>
          <a:cs typeface="Avenir Next LT Pro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venir Next LT Pro"/>
          <a:ea typeface="Avenir Next LT Pro"/>
          <a:cs typeface="Avenir Next LT Pro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font" Target="fonts/Garamond-bold.fntdata"/><Relationship Id="rId45" Type="http://schemas.openxmlformats.org/officeDocument/2006/relationships/font" Target="fonts/Garamond-regular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48" Type="http://schemas.openxmlformats.org/officeDocument/2006/relationships/font" Target="fonts/Garamond-boldItalic.fntdata"/><Relationship Id="rId47" Type="http://schemas.openxmlformats.org/officeDocument/2006/relationships/font" Target="fonts/Garamond-italic.fntdata"/><Relationship Id="rId49" Type="http://schemas.openxmlformats.org/officeDocument/2006/relationships/font" Target="fonts/OpenSans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font" Target="fonts/OpenSans-italic.fntdata"/><Relationship Id="rId50" Type="http://schemas.openxmlformats.org/officeDocument/2006/relationships/font" Target="fonts/OpenSans-bold.fntdata"/><Relationship Id="rId53" Type="http://schemas.openxmlformats.org/officeDocument/2006/relationships/font" Target="fonts/CenturyGothic-regular.fntdata"/><Relationship Id="rId52" Type="http://schemas.openxmlformats.org/officeDocument/2006/relationships/font" Target="fonts/OpenSans-boldItalic.fntdata"/><Relationship Id="rId11" Type="http://schemas.openxmlformats.org/officeDocument/2006/relationships/slide" Target="slides/slide2.xml"/><Relationship Id="rId55" Type="http://schemas.openxmlformats.org/officeDocument/2006/relationships/font" Target="fonts/CenturyGothic-italic.fntdata"/><Relationship Id="rId10" Type="http://schemas.openxmlformats.org/officeDocument/2006/relationships/slide" Target="slides/slide1.xml"/><Relationship Id="rId54" Type="http://schemas.openxmlformats.org/officeDocument/2006/relationships/font" Target="fonts/CenturyGothic-bold.fntdata"/><Relationship Id="rId13" Type="http://schemas.openxmlformats.org/officeDocument/2006/relationships/slide" Target="slides/slide4.xml"/><Relationship Id="rId57" Type="http://customschemas.google.com/relationships/presentationmetadata" Target="metadata"/><Relationship Id="rId12" Type="http://schemas.openxmlformats.org/officeDocument/2006/relationships/slide" Target="slides/slide3.xml"/><Relationship Id="rId56" Type="http://schemas.openxmlformats.org/officeDocument/2006/relationships/font" Target="fonts/CenturyGothic-boldItalic.fntdata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" name="Google Shape;82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/>
          <p:nvPr>
            <p:ph type="ctrTitle"/>
          </p:nvPr>
        </p:nvSpPr>
        <p:spPr>
          <a:xfrm>
            <a:off x="612648" y="557783"/>
            <a:ext cx="10969752" cy="31308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" type="subTitle"/>
          </p:nvPr>
        </p:nvSpPr>
        <p:spPr>
          <a:xfrm>
            <a:off x="612648" y="3902206"/>
            <a:ext cx="10969752" cy="2240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7"/>
          <p:cNvSpPr txBox="1"/>
          <p:nvPr>
            <p:ph idx="10" type="dt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" type="body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0" type="dt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8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9"/>
          <p:cNvSpPr txBox="1"/>
          <p:nvPr>
            <p:ph type="title"/>
          </p:nvPr>
        </p:nvSpPr>
        <p:spPr>
          <a:xfrm>
            <a:off x="612648" y="557784"/>
            <a:ext cx="10969752" cy="3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" type="body"/>
          </p:nvPr>
        </p:nvSpPr>
        <p:spPr>
          <a:xfrm>
            <a:off x="612648" y="3902207"/>
            <a:ext cx="10969752" cy="2187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B8B8B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B8B8B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B8B8B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B8B8B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B8B8B"/>
              </a:buClr>
              <a:buSzPts val="1600"/>
              <a:buNone/>
              <a:defRPr sz="1600">
                <a:solidFill>
                  <a:srgbClr val="8B8B8B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B8B8B"/>
              </a:buClr>
              <a:buSzPts val="1600"/>
              <a:buNone/>
              <a:defRPr sz="1600">
                <a:solidFill>
                  <a:srgbClr val="8B8B8B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B8B8B"/>
              </a:buClr>
              <a:buSzPts val="1600"/>
              <a:buNone/>
              <a:defRPr sz="1600">
                <a:solidFill>
                  <a:srgbClr val="8B8B8B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B8B8B"/>
              </a:buClr>
              <a:buSzPts val="1600"/>
              <a:buNone/>
              <a:defRPr sz="1600">
                <a:solidFill>
                  <a:srgbClr val="8B8B8B"/>
                </a:solidFill>
              </a:defRPr>
            </a:lvl9pPr>
          </a:lstStyle>
          <a:p/>
        </p:txBody>
      </p:sp>
      <p:sp>
        <p:nvSpPr>
          <p:cNvPr id="32" name="Google Shape;32;p39"/>
          <p:cNvSpPr txBox="1"/>
          <p:nvPr>
            <p:ph idx="10" type="dt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0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0"/>
          <p:cNvSpPr txBox="1"/>
          <p:nvPr>
            <p:ph idx="1" type="body"/>
          </p:nvPr>
        </p:nvSpPr>
        <p:spPr>
          <a:xfrm>
            <a:off x="609600" y="2081369"/>
            <a:ext cx="5410200" cy="409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2" type="body"/>
          </p:nvPr>
        </p:nvSpPr>
        <p:spPr>
          <a:xfrm>
            <a:off x="6172202" y="2081369"/>
            <a:ext cx="5410200" cy="4095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0" type="dt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1"/>
          <p:cNvSpPr txBox="1"/>
          <p:nvPr>
            <p:ph type="title"/>
          </p:nvPr>
        </p:nvSpPr>
        <p:spPr>
          <a:xfrm>
            <a:off x="609600" y="365125"/>
            <a:ext cx="1074578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" type="body"/>
          </p:nvPr>
        </p:nvSpPr>
        <p:spPr>
          <a:xfrm>
            <a:off x="609600" y="1895096"/>
            <a:ext cx="538797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i="0" sz="24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1"/>
          <p:cNvSpPr txBox="1"/>
          <p:nvPr>
            <p:ph idx="2" type="body"/>
          </p:nvPr>
        </p:nvSpPr>
        <p:spPr>
          <a:xfrm>
            <a:off x="609600" y="2842211"/>
            <a:ext cx="5387975" cy="3347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3" type="body"/>
          </p:nvPr>
        </p:nvSpPr>
        <p:spPr>
          <a:xfrm>
            <a:off x="6167890" y="1895096"/>
            <a:ext cx="541451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i="0" sz="24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1"/>
          <p:cNvSpPr txBox="1"/>
          <p:nvPr>
            <p:ph idx="4" type="body"/>
          </p:nvPr>
        </p:nvSpPr>
        <p:spPr>
          <a:xfrm>
            <a:off x="6167890" y="2842211"/>
            <a:ext cx="5414510" cy="3347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0" type="dt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1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2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0" type="dt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2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3"/>
          <p:cNvSpPr txBox="1"/>
          <p:nvPr>
            <p:ph idx="10" type="dt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3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4"/>
          <p:cNvSpPr txBox="1"/>
          <p:nvPr>
            <p:ph type="title"/>
          </p:nvPr>
        </p:nvSpPr>
        <p:spPr>
          <a:xfrm>
            <a:off x="612649" y="457199"/>
            <a:ext cx="4970822" cy="26602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4"/>
          <p:cNvSpPr txBox="1"/>
          <p:nvPr>
            <p:ph idx="1" type="body"/>
          </p:nvPr>
        </p:nvSpPr>
        <p:spPr>
          <a:xfrm>
            <a:off x="6096000" y="457200"/>
            <a:ext cx="5483352" cy="5744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44"/>
          <p:cNvSpPr txBox="1"/>
          <p:nvPr>
            <p:ph idx="2" type="body"/>
          </p:nvPr>
        </p:nvSpPr>
        <p:spPr>
          <a:xfrm>
            <a:off x="612649" y="3329989"/>
            <a:ext cx="4970822" cy="287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44"/>
          <p:cNvSpPr txBox="1"/>
          <p:nvPr>
            <p:ph idx="10" type="dt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4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5"/>
          <p:cNvSpPr txBox="1"/>
          <p:nvPr>
            <p:ph type="title"/>
          </p:nvPr>
        </p:nvSpPr>
        <p:spPr>
          <a:xfrm>
            <a:off x="612649" y="457199"/>
            <a:ext cx="4970822" cy="26674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5"/>
          <p:cNvSpPr/>
          <p:nvPr>
            <p:ph idx="2" type="pic"/>
          </p:nvPr>
        </p:nvSpPr>
        <p:spPr>
          <a:xfrm>
            <a:off x="6096000" y="457199"/>
            <a:ext cx="5483352" cy="5403851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45"/>
          <p:cNvSpPr txBox="1"/>
          <p:nvPr>
            <p:ph idx="1" type="body"/>
          </p:nvPr>
        </p:nvSpPr>
        <p:spPr>
          <a:xfrm>
            <a:off x="612649" y="3322708"/>
            <a:ext cx="4970822" cy="254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45"/>
          <p:cNvSpPr txBox="1"/>
          <p:nvPr>
            <p:ph idx="10" type="dt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5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6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" type="body"/>
          </p:nvPr>
        </p:nvSpPr>
        <p:spPr>
          <a:xfrm rot="5400000">
            <a:off x="4077733" y="-1361929"/>
            <a:ext cx="4036534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0" type="dt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6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7"/>
          <p:cNvSpPr txBox="1"/>
          <p:nvPr>
            <p:ph type="title"/>
          </p:nvPr>
        </p:nvSpPr>
        <p:spPr>
          <a:xfrm rot="5400000">
            <a:off x="7330416" y="1952268"/>
            <a:ext cx="5643420" cy="28544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" type="body"/>
          </p:nvPr>
        </p:nvSpPr>
        <p:spPr>
          <a:xfrm rot="5400000">
            <a:off x="1658088" y="-487656"/>
            <a:ext cx="564342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0" type="dt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7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9"/>
          <p:cNvSpPr txBox="1"/>
          <p:nvPr>
            <p:ph type="ctrTitle"/>
          </p:nvPr>
        </p:nvSpPr>
        <p:spPr>
          <a:xfrm>
            <a:off x="448056" y="448056"/>
            <a:ext cx="11292840" cy="34015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Arial"/>
              <a:buNone/>
              <a:defRPr sz="6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9"/>
          <p:cNvSpPr txBox="1"/>
          <p:nvPr>
            <p:ph idx="1" type="subTitle"/>
          </p:nvPr>
        </p:nvSpPr>
        <p:spPr>
          <a:xfrm>
            <a:off x="448056" y="4471416"/>
            <a:ext cx="11292840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95" name="Google Shape;95;p49"/>
          <p:cNvCxnSpPr/>
          <p:nvPr/>
        </p:nvCxnSpPr>
        <p:spPr>
          <a:xfrm>
            <a:off x="449400" y="4122000"/>
            <a:ext cx="11293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49"/>
          <p:cNvSpPr txBox="1"/>
          <p:nvPr>
            <p:ph idx="11" type="ftr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9"/>
          <p:cNvSpPr txBox="1"/>
          <p:nvPr>
            <p:ph idx="12" type="sldNum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49"/>
          <p:cNvSpPr txBox="1"/>
          <p:nvPr>
            <p:ph idx="10" type="dt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"/>
          <p:cNvSpPr txBox="1"/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0"/>
          <p:cNvSpPr txBox="1"/>
          <p:nvPr>
            <p:ph idx="1" type="body"/>
          </p:nvPr>
        </p:nvSpPr>
        <p:spPr>
          <a:xfrm>
            <a:off x="448056" y="1735200"/>
            <a:ext cx="11293200" cy="3783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50"/>
          <p:cNvSpPr txBox="1"/>
          <p:nvPr>
            <p:ph idx="11" type="ftr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0"/>
          <p:cNvSpPr txBox="1"/>
          <p:nvPr>
            <p:ph idx="12" type="sldNum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50"/>
          <p:cNvSpPr txBox="1"/>
          <p:nvPr>
            <p:ph idx="10" type="dt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1"/>
          <p:cNvSpPr txBox="1"/>
          <p:nvPr>
            <p:ph type="title"/>
          </p:nvPr>
        </p:nvSpPr>
        <p:spPr>
          <a:xfrm>
            <a:off x="448056" y="448056"/>
            <a:ext cx="11311128" cy="34015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400"/>
              <a:buFont typeface="Arial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1"/>
          <p:cNvSpPr txBox="1"/>
          <p:nvPr>
            <p:ph idx="1" type="body"/>
          </p:nvPr>
        </p:nvSpPr>
        <p:spPr>
          <a:xfrm>
            <a:off x="448056" y="4471416"/>
            <a:ext cx="11292840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51"/>
          <p:cNvSpPr txBox="1"/>
          <p:nvPr>
            <p:ph idx="10" type="dt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1"/>
          <p:cNvSpPr txBox="1"/>
          <p:nvPr>
            <p:ph idx="11" type="ftr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1"/>
          <p:cNvSpPr txBox="1"/>
          <p:nvPr>
            <p:ph idx="12" type="sldNum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1945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1" name="Google Shape;111;p51"/>
          <p:cNvCxnSpPr/>
          <p:nvPr/>
        </p:nvCxnSpPr>
        <p:spPr>
          <a:xfrm>
            <a:off x="449400" y="4122000"/>
            <a:ext cx="11293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2"/>
          <p:cNvSpPr txBox="1"/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2"/>
          <p:cNvSpPr txBox="1"/>
          <p:nvPr>
            <p:ph idx="1" type="body"/>
          </p:nvPr>
        </p:nvSpPr>
        <p:spPr>
          <a:xfrm>
            <a:off x="448056" y="1735200"/>
            <a:ext cx="5431536" cy="42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52"/>
          <p:cNvSpPr txBox="1"/>
          <p:nvPr>
            <p:ph idx="2" type="body"/>
          </p:nvPr>
        </p:nvSpPr>
        <p:spPr>
          <a:xfrm>
            <a:off x="6309360" y="1735200"/>
            <a:ext cx="5431536" cy="42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52"/>
          <p:cNvSpPr txBox="1"/>
          <p:nvPr>
            <p:ph idx="10" type="dt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2"/>
          <p:cNvSpPr txBox="1"/>
          <p:nvPr>
            <p:ph idx="11" type="ftr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2"/>
          <p:cNvSpPr txBox="1"/>
          <p:nvPr>
            <p:ph idx="12" type="sldNum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1945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3"/>
          <p:cNvSpPr txBox="1"/>
          <p:nvPr>
            <p:ph type="title"/>
          </p:nvPr>
        </p:nvSpPr>
        <p:spPr>
          <a:xfrm>
            <a:off x="448056" y="388800"/>
            <a:ext cx="11311128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3"/>
          <p:cNvSpPr txBox="1"/>
          <p:nvPr>
            <p:ph idx="1" type="body"/>
          </p:nvPr>
        </p:nvSpPr>
        <p:spPr>
          <a:xfrm>
            <a:off x="448056" y="1774952"/>
            <a:ext cx="5431536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1"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53"/>
          <p:cNvSpPr txBox="1"/>
          <p:nvPr>
            <p:ph idx="2" type="body"/>
          </p:nvPr>
        </p:nvSpPr>
        <p:spPr>
          <a:xfrm>
            <a:off x="448056" y="2752344"/>
            <a:ext cx="5431536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53"/>
          <p:cNvSpPr txBox="1"/>
          <p:nvPr>
            <p:ph idx="3" type="body"/>
          </p:nvPr>
        </p:nvSpPr>
        <p:spPr>
          <a:xfrm>
            <a:off x="6309360" y="1774952"/>
            <a:ext cx="5431536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1"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53"/>
          <p:cNvSpPr txBox="1"/>
          <p:nvPr>
            <p:ph idx="4" type="body"/>
          </p:nvPr>
        </p:nvSpPr>
        <p:spPr>
          <a:xfrm>
            <a:off x="6309360" y="2752344"/>
            <a:ext cx="5431536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53"/>
          <p:cNvSpPr txBox="1"/>
          <p:nvPr>
            <p:ph idx="10" type="dt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3"/>
          <p:cNvSpPr txBox="1"/>
          <p:nvPr>
            <p:ph idx="11" type="ftr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3"/>
          <p:cNvSpPr txBox="1"/>
          <p:nvPr>
            <p:ph idx="12" type="sldNum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1945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4"/>
          <p:cNvSpPr txBox="1"/>
          <p:nvPr>
            <p:ph type="title"/>
          </p:nvPr>
        </p:nvSpPr>
        <p:spPr>
          <a:xfrm>
            <a:off x="448056" y="388800"/>
            <a:ext cx="11311128" cy="5559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4"/>
          <p:cNvSpPr txBox="1"/>
          <p:nvPr>
            <p:ph idx="10" type="dt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4"/>
          <p:cNvSpPr txBox="1"/>
          <p:nvPr>
            <p:ph idx="11" type="ftr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4"/>
          <p:cNvSpPr txBox="1"/>
          <p:nvPr>
            <p:ph idx="12" type="sldNum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1945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5"/>
          <p:cNvSpPr txBox="1"/>
          <p:nvPr>
            <p:ph idx="10" type="dt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5"/>
          <p:cNvSpPr txBox="1"/>
          <p:nvPr>
            <p:ph idx="11" type="ftr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5"/>
          <p:cNvSpPr txBox="1"/>
          <p:nvPr>
            <p:ph idx="12" type="sldNum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6"/>
          <p:cNvSpPr txBox="1"/>
          <p:nvPr>
            <p:ph type="title"/>
          </p:nvPr>
        </p:nvSpPr>
        <p:spPr>
          <a:xfrm>
            <a:off x="448056" y="388800"/>
            <a:ext cx="3447288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56"/>
          <p:cNvSpPr txBox="1"/>
          <p:nvPr>
            <p:ph idx="1" type="body"/>
          </p:nvPr>
        </p:nvSpPr>
        <p:spPr>
          <a:xfrm>
            <a:off x="4370832" y="393192"/>
            <a:ext cx="7379208" cy="5559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 sz="1800"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 sz="1800"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 sz="1800"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 sz="1800"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0" name="Google Shape;140;p56"/>
          <p:cNvSpPr txBox="1"/>
          <p:nvPr>
            <p:ph idx="2" type="body"/>
          </p:nvPr>
        </p:nvSpPr>
        <p:spPr>
          <a:xfrm>
            <a:off x="448056" y="1733550"/>
            <a:ext cx="3447288" cy="4219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1" name="Google Shape;141;p56"/>
          <p:cNvSpPr txBox="1"/>
          <p:nvPr>
            <p:ph idx="10" type="dt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6"/>
          <p:cNvSpPr txBox="1"/>
          <p:nvPr>
            <p:ph idx="11" type="ftr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6"/>
          <p:cNvSpPr txBox="1"/>
          <p:nvPr>
            <p:ph idx="12" type="sldNum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7"/>
          <p:cNvSpPr txBox="1"/>
          <p:nvPr>
            <p:ph type="title"/>
          </p:nvPr>
        </p:nvSpPr>
        <p:spPr>
          <a:xfrm>
            <a:off x="448056" y="388800"/>
            <a:ext cx="3447288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7"/>
          <p:cNvSpPr/>
          <p:nvPr>
            <p:ph idx="2" type="pic"/>
          </p:nvPr>
        </p:nvSpPr>
        <p:spPr>
          <a:xfrm>
            <a:off x="4370832" y="441324"/>
            <a:ext cx="7373112" cy="5511419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57"/>
          <p:cNvSpPr txBox="1"/>
          <p:nvPr>
            <p:ph idx="1" type="body"/>
          </p:nvPr>
        </p:nvSpPr>
        <p:spPr>
          <a:xfrm>
            <a:off x="448056" y="1735200"/>
            <a:ext cx="3447288" cy="42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57"/>
          <p:cNvSpPr txBox="1"/>
          <p:nvPr>
            <p:ph idx="10" type="dt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57"/>
          <p:cNvSpPr txBox="1"/>
          <p:nvPr>
            <p:ph idx="11" type="ftr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57"/>
          <p:cNvSpPr txBox="1"/>
          <p:nvPr>
            <p:ph idx="12" type="sldNum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8"/>
          <p:cNvSpPr txBox="1"/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58"/>
          <p:cNvSpPr txBox="1"/>
          <p:nvPr>
            <p:ph idx="1" type="body"/>
          </p:nvPr>
        </p:nvSpPr>
        <p:spPr>
          <a:xfrm rot="5400000">
            <a:off x="4101084" y="-1696212"/>
            <a:ext cx="3995928" cy="11301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58"/>
          <p:cNvSpPr txBox="1"/>
          <p:nvPr>
            <p:ph idx="10" type="dt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8"/>
          <p:cNvSpPr txBox="1"/>
          <p:nvPr>
            <p:ph idx="11" type="ftr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8"/>
          <p:cNvSpPr txBox="1"/>
          <p:nvPr>
            <p:ph idx="12" type="sldNum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9"/>
          <p:cNvSpPr txBox="1"/>
          <p:nvPr>
            <p:ph type="title"/>
          </p:nvPr>
        </p:nvSpPr>
        <p:spPr>
          <a:xfrm rot="5400000">
            <a:off x="8270748" y="2409444"/>
            <a:ext cx="5504688" cy="158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9"/>
          <p:cNvSpPr txBox="1"/>
          <p:nvPr>
            <p:ph idx="1" type="body"/>
          </p:nvPr>
        </p:nvSpPr>
        <p:spPr>
          <a:xfrm rot="5400000">
            <a:off x="2404872" y="-1527048"/>
            <a:ext cx="5504688" cy="943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1pPr>
            <a:lvl2pPr indent="-342900" lvl="1" marL="9144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2pPr>
            <a:lvl3pPr indent="-342900" lvl="2" marL="13716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3pPr>
            <a:lvl4pPr indent="-342900" lvl="3" marL="18288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4pPr>
            <a:lvl5pPr indent="-342900" lvl="4" marL="228600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→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59"/>
          <p:cNvSpPr txBox="1"/>
          <p:nvPr>
            <p:ph idx="10" type="dt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9"/>
          <p:cNvSpPr txBox="1"/>
          <p:nvPr>
            <p:ph idx="11" type="ftr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9"/>
          <p:cNvSpPr txBox="1"/>
          <p:nvPr>
            <p:ph idx="12" type="sldNum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6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2" name="Google Shape;172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61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1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62"/>
          <p:cNvSpPr txBox="1"/>
          <p:nvPr>
            <p:ph idx="1" type="body"/>
          </p:nvPr>
        </p:nvSpPr>
        <p:spPr>
          <a:xfrm>
            <a:off x="838200" y="1825625"/>
            <a:ext cx="10515600" cy="385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62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2"/>
          <p:cNvSpPr/>
          <p:nvPr/>
        </p:nvSpPr>
        <p:spPr>
          <a:xfrm flipH="1">
            <a:off x="123536" y="5717905"/>
            <a:ext cx="1771609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6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8" name="Google Shape;188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63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3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6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6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64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4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6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5" name="Google Shape;205;p6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6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6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65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5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66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6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67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7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6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9" name="Google Shape;229;p6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68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8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6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6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9" name="Google Shape;239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69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9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7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70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0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7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71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1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3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aramond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73"/>
          <p:cNvSpPr txBox="1"/>
          <p:nvPr>
            <p:ph idx="1" type="subTitle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272" name="Google Shape;272;p73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73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73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73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74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9" name="Google Shape;279;p74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74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74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5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aramond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75"/>
          <p:cNvSpPr txBox="1"/>
          <p:nvPr>
            <p:ph idx="1" type="body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286" name="Google Shape;286;p75"/>
          <p:cNvCxnSpPr/>
          <p:nvPr/>
        </p:nvCxnSpPr>
        <p:spPr>
          <a:xfrm>
            <a:off x="1207658" y="4485132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75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75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75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76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93" name="Google Shape;293;p76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94" name="Google Shape;294;p76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76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76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77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00" name="Google Shape;300;p77"/>
          <p:cNvSpPr txBox="1"/>
          <p:nvPr>
            <p:ph idx="2" type="body"/>
          </p:nvPr>
        </p:nvSpPr>
        <p:spPr>
          <a:xfrm>
            <a:off x="1097280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1" name="Google Shape;301;p77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02" name="Google Shape;302;p77"/>
          <p:cNvSpPr txBox="1"/>
          <p:nvPr>
            <p:ph idx="4" type="body"/>
          </p:nvPr>
        </p:nvSpPr>
        <p:spPr>
          <a:xfrm>
            <a:off x="6515944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3" name="Google Shape;303;p77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77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77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78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78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78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79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79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79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0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0"/>
          <p:cNvSpPr txBox="1"/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aramond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80"/>
          <p:cNvSpPr txBox="1"/>
          <p:nvPr>
            <p:ph idx="1" type="body"/>
          </p:nvPr>
        </p:nvSpPr>
        <p:spPr>
          <a:xfrm>
            <a:off x="5458984" y="812799"/>
            <a:ext cx="5928344" cy="5294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20" name="Google Shape;320;p80"/>
          <p:cNvSpPr txBox="1"/>
          <p:nvPr>
            <p:ph idx="2" type="body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21" name="Google Shape;321;p80"/>
          <p:cNvSpPr txBox="1"/>
          <p:nvPr>
            <p:ph idx="10" type="dt"/>
          </p:nvPr>
        </p:nvSpPr>
        <p:spPr>
          <a:xfrm>
            <a:off x="643464" y="6446520"/>
            <a:ext cx="35175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80"/>
          <p:cNvSpPr txBox="1"/>
          <p:nvPr>
            <p:ph idx="11" type="ftr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80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algn="l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1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1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27" name="Google Shape;327;p81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aramond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81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29" name="Google Shape;329;p81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81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81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82"/>
          <p:cNvSpPr txBox="1"/>
          <p:nvPr>
            <p:ph idx="1" type="body"/>
          </p:nvPr>
        </p:nvSpPr>
        <p:spPr>
          <a:xfrm rot="5400000">
            <a:off x="4246035" y="-1040554"/>
            <a:ext cx="3760891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35" name="Google Shape;335;p82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82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82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3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83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42" name="Google Shape;342;p83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83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83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ag=AccentColor&#10;Flavor=Light&#10;Target=FillAndLine" id="352" name="Google Shape;352;p85"/>
          <p:cNvSpPr/>
          <p:nvPr/>
        </p:nvSpPr>
        <p:spPr>
          <a:xfrm>
            <a:off x="838200" y="4736883"/>
            <a:ext cx="4243589" cy="27432"/>
          </a:xfrm>
          <a:custGeom>
            <a:rect b="b" l="l" r="r" t="t"/>
            <a:pathLst>
              <a:path extrusionOk="0" fill="none" h="27432" w="4243589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extrusionOk="0" h="27432" w="4243589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5"/>
          <p:cNvSpPr txBox="1"/>
          <p:nvPr>
            <p:ph type="ctrTitle"/>
          </p:nvPr>
        </p:nvSpPr>
        <p:spPr>
          <a:xfrm>
            <a:off x="841248" y="448056"/>
            <a:ext cx="105156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85"/>
          <p:cNvSpPr txBox="1"/>
          <p:nvPr>
            <p:ph idx="1" type="subTitle"/>
          </p:nvPr>
        </p:nvSpPr>
        <p:spPr>
          <a:xfrm>
            <a:off x="841248" y="4983480"/>
            <a:ext cx="1051560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5" name="Google Shape;355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86"/>
          <p:cNvSpPr txBox="1"/>
          <p:nvPr>
            <p:ph idx="1" type="body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1" name="Google Shape;361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364" name="Google Shape;364;p86"/>
          <p:cNvSpPr/>
          <p:nvPr/>
        </p:nvSpPr>
        <p:spPr>
          <a:xfrm>
            <a:off x="838199" y="1709928"/>
            <a:ext cx="10515600" cy="27432"/>
          </a:xfrm>
          <a:custGeom>
            <a:rect b="b" l="l" r="r" t="t"/>
            <a:pathLst>
              <a:path extrusionOk="0" fill="none" h="27432" w="1051560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extrusionOk="0" h="27432" w="1051560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7"/>
          <p:cNvSpPr txBox="1"/>
          <p:nvPr>
            <p:ph type="title"/>
          </p:nvPr>
        </p:nvSpPr>
        <p:spPr>
          <a:xfrm>
            <a:off x="841248" y="448056"/>
            <a:ext cx="105156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87"/>
          <p:cNvSpPr txBox="1"/>
          <p:nvPr>
            <p:ph idx="1" type="body"/>
          </p:nvPr>
        </p:nvSpPr>
        <p:spPr>
          <a:xfrm>
            <a:off x="841248" y="4983480"/>
            <a:ext cx="1051560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8" name="Google Shape;368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371" name="Google Shape;371;p87"/>
          <p:cNvSpPr/>
          <p:nvPr/>
        </p:nvSpPr>
        <p:spPr>
          <a:xfrm>
            <a:off x="838200" y="4736883"/>
            <a:ext cx="4243589" cy="27432"/>
          </a:xfrm>
          <a:custGeom>
            <a:rect b="b" l="l" r="r" t="t"/>
            <a:pathLst>
              <a:path extrusionOk="0" fill="none" h="27432" w="4243589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extrusionOk="0" h="27432" w="4243589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8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88"/>
          <p:cNvSpPr txBox="1"/>
          <p:nvPr>
            <p:ph idx="1" type="body"/>
          </p:nvPr>
        </p:nvSpPr>
        <p:spPr>
          <a:xfrm>
            <a:off x="838200" y="1929384"/>
            <a:ext cx="5181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5" name="Google Shape;375;p88"/>
          <p:cNvSpPr txBox="1"/>
          <p:nvPr>
            <p:ph idx="2" type="body"/>
          </p:nvPr>
        </p:nvSpPr>
        <p:spPr>
          <a:xfrm>
            <a:off x="6172200" y="1929384"/>
            <a:ext cx="5181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6" name="Google Shape;376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379" name="Google Shape;379;p88"/>
          <p:cNvSpPr/>
          <p:nvPr/>
        </p:nvSpPr>
        <p:spPr>
          <a:xfrm>
            <a:off x="838199" y="1709928"/>
            <a:ext cx="10515600" cy="27432"/>
          </a:xfrm>
          <a:custGeom>
            <a:rect b="b" l="l" r="r" t="t"/>
            <a:pathLst>
              <a:path extrusionOk="0" fill="none" h="27432" w="1051560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extrusionOk="0" h="27432" w="1051560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8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89"/>
          <p:cNvSpPr txBox="1"/>
          <p:nvPr>
            <p:ph idx="1" type="body"/>
          </p:nvPr>
        </p:nvSpPr>
        <p:spPr>
          <a:xfrm>
            <a:off x="839788" y="193852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3" name="Google Shape;383;p89"/>
          <p:cNvSpPr txBox="1"/>
          <p:nvPr>
            <p:ph idx="2" type="body"/>
          </p:nvPr>
        </p:nvSpPr>
        <p:spPr>
          <a:xfrm>
            <a:off x="839788" y="2926080"/>
            <a:ext cx="5157787" cy="3264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4" name="Google Shape;384;p89"/>
          <p:cNvSpPr txBox="1"/>
          <p:nvPr>
            <p:ph idx="3" type="body"/>
          </p:nvPr>
        </p:nvSpPr>
        <p:spPr>
          <a:xfrm>
            <a:off x="6172200" y="193852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5" name="Google Shape;385;p89"/>
          <p:cNvSpPr txBox="1"/>
          <p:nvPr>
            <p:ph idx="4" type="body"/>
          </p:nvPr>
        </p:nvSpPr>
        <p:spPr>
          <a:xfrm>
            <a:off x="6172200" y="2926080"/>
            <a:ext cx="5183188" cy="3264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6" name="Google Shape;386;p8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8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389" name="Google Shape;389;p89"/>
          <p:cNvSpPr/>
          <p:nvPr/>
        </p:nvSpPr>
        <p:spPr>
          <a:xfrm>
            <a:off x="838199" y="1709928"/>
            <a:ext cx="10515600" cy="27432"/>
          </a:xfrm>
          <a:custGeom>
            <a:rect b="b" l="l" r="r" t="t"/>
            <a:pathLst>
              <a:path extrusionOk="0" fill="none" h="27432" w="1051560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extrusionOk="0" h="27432" w="1051560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0"/>
          <p:cNvSpPr txBox="1"/>
          <p:nvPr>
            <p:ph type="title"/>
          </p:nvPr>
        </p:nvSpPr>
        <p:spPr>
          <a:xfrm>
            <a:off x="2203704" y="1728216"/>
            <a:ext cx="7781544" cy="3392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None/>
              <a:defRPr sz="7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395" name="Google Shape;395;p90"/>
          <p:cNvSpPr/>
          <p:nvPr/>
        </p:nvSpPr>
        <p:spPr>
          <a:xfrm>
            <a:off x="3974206" y="5126892"/>
            <a:ext cx="4243589" cy="27432"/>
          </a:xfrm>
          <a:custGeom>
            <a:rect b="b" l="l" r="r" t="t"/>
            <a:pathLst>
              <a:path extrusionOk="0" fill="none" h="27432" w="4243589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extrusionOk="0" h="27432" w="4243589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9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2"/>
          <p:cNvSpPr txBox="1"/>
          <p:nvPr>
            <p:ph type="title"/>
          </p:nvPr>
        </p:nvSpPr>
        <p:spPr>
          <a:xfrm>
            <a:off x="839788" y="457200"/>
            <a:ext cx="3932237" cy="34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92"/>
          <p:cNvSpPr txBox="1"/>
          <p:nvPr>
            <p:ph idx="1" type="body"/>
          </p:nvPr>
        </p:nvSpPr>
        <p:spPr>
          <a:xfrm>
            <a:off x="5303520" y="548640"/>
            <a:ext cx="6053328" cy="5431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03" name="Google Shape;403;p92"/>
          <p:cNvSpPr txBox="1"/>
          <p:nvPr>
            <p:ph idx="2" type="body"/>
          </p:nvPr>
        </p:nvSpPr>
        <p:spPr>
          <a:xfrm>
            <a:off x="839788" y="3977640"/>
            <a:ext cx="3932237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04" name="Google Shape;404;p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407" name="Google Shape;407;p92"/>
          <p:cNvSpPr/>
          <p:nvPr/>
        </p:nvSpPr>
        <p:spPr>
          <a:xfrm rot="5400000">
            <a:off x="2797492" y="3254143"/>
            <a:ext cx="4480560" cy="27432"/>
          </a:xfrm>
          <a:custGeom>
            <a:rect b="b" l="l" r="r" t="t"/>
            <a:pathLst>
              <a:path extrusionOk="0" fill="none" h="27432" w="448056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extrusionOk="0" h="27432" w="448056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444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93"/>
          <p:cNvSpPr txBox="1"/>
          <p:nvPr>
            <p:ph type="title"/>
          </p:nvPr>
        </p:nvSpPr>
        <p:spPr>
          <a:xfrm>
            <a:off x="839788" y="457200"/>
            <a:ext cx="393192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93"/>
          <p:cNvSpPr/>
          <p:nvPr>
            <p:ph idx="2" type="pic"/>
          </p:nvPr>
        </p:nvSpPr>
        <p:spPr>
          <a:xfrm>
            <a:off x="5303520" y="548640"/>
            <a:ext cx="6053328" cy="5431536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93"/>
          <p:cNvSpPr txBox="1"/>
          <p:nvPr>
            <p:ph idx="1" type="body"/>
          </p:nvPr>
        </p:nvSpPr>
        <p:spPr>
          <a:xfrm>
            <a:off x="839788" y="3977640"/>
            <a:ext cx="3931920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12" name="Google Shape;412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Tag=AccentColor&#10;Flavor=Light&#10;Target=FillAndLine" id="415" name="Google Shape;415;p93"/>
          <p:cNvSpPr/>
          <p:nvPr/>
        </p:nvSpPr>
        <p:spPr>
          <a:xfrm rot="5400000">
            <a:off x="2798064" y="3254143"/>
            <a:ext cx="4480560" cy="27432"/>
          </a:xfrm>
          <a:custGeom>
            <a:rect b="b" l="l" r="r" t="t"/>
            <a:pathLst>
              <a:path extrusionOk="0" fill="none" h="27432" w="448056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extrusionOk="0" h="27432" w="448056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dk1"/>
          </a:solidFill>
          <a:ln cap="rnd" cmpd="sng" w="444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9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9" name="Google Shape;419;p9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9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9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9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p9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9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" name="Google Shape;11;p36"/>
          <p:cNvSpPr/>
          <p:nvPr/>
        </p:nvSpPr>
        <p:spPr>
          <a:xfrm>
            <a:off x="-1" y="232968"/>
            <a:ext cx="9560477" cy="6625032"/>
          </a:xfrm>
          <a:custGeom>
            <a:rect b="b" l="l" r="r" t="t"/>
            <a:pathLst>
              <a:path extrusionOk="0" h="6858000" w="9263816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" name="Google Shape;12;p36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36"/>
          <p:cNvSpPr txBox="1"/>
          <p:nvPr>
            <p:ph idx="1" type="body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venir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venir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venir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0" type="dt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5" name="Google Shape;1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8"/>
          <p:cNvSpPr txBox="1"/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1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8" name="Google Shape;88;p48"/>
          <p:cNvSpPr txBox="1"/>
          <p:nvPr>
            <p:ph idx="1" type="body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Char char="→"/>
              <a:defRPr b="0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Char char="→"/>
              <a:defRPr b="0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Char char="→"/>
              <a:defRPr b="0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Char char="→"/>
              <a:defRPr b="0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Char char="→"/>
              <a:defRPr b="0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9" name="Google Shape;89;p48"/>
          <p:cNvSpPr txBox="1"/>
          <p:nvPr>
            <p:ph idx="11" type="ftr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0" name="Google Shape;90;p48"/>
          <p:cNvSpPr txBox="1"/>
          <p:nvPr>
            <p:ph idx="12" type="sldNum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48"/>
          <p:cNvSpPr txBox="1"/>
          <p:nvPr>
            <p:ph idx="10" type="dt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748">
          <p15:clr>
            <a:srgbClr val="F26B43"/>
          </p15:clr>
        </p15:guide>
        <p15:guide id="2" pos="279">
          <p15:clr>
            <a:srgbClr val="F26B43"/>
          </p15:clr>
        </p15:guide>
        <p15:guide id="3" pos="1232">
          <p15:clr>
            <a:srgbClr val="5ACBF0"/>
          </p15:clr>
        </p15:guide>
        <p15:guide id="4" pos="1527">
          <p15:clr>
            <a:srgbClr val="5ACBF0"/>
          </p15:clr>
        </p15:guide>
        <p15:guide id="5" pos="2457">
          <p15:clr>
            <a:srgbClr val="5ACBF0"/>
          </p15:clr>
        </p15:guide>
        <p15:guide id="6" pos="2751">
          <p15:clr>
            <a:srgbClr val="5ACBF0"/>
          </p15:clr>
        </p15:guide>
        <p15:guide id="7" pos="3704">
          <p15:clr>
            <a:srgbClr val="5ACBF0"/>
          </p15:clr>
        </p15:guide>
        <p15:guide id="8" pos="3976">
          <p15:clr>
            <a:srgbClr val="5ACBF0"/>
          </p15:clr>
        </p15:guide>
        <p15:guide id="9" pos="4929">
          <p15:clr>
            <a:srgbClr val="5ACBF0"/>
          </p15:clr>
        </p15:guide>
        <p15:guide id="10" pos="5201">
          <p15:clr>
            <a:srgbClr val="5ACBF0"/>
          </p15:clr>
        </p15:guide>
        <p15:guide id="11" pos="6153">
          <p15:clr>
            <a:srgbClr val="5ACBF0"/>
          </p15:clr>
        </p15:guide>
        <p15:guide id="12" pos="6448">
          <p15:clr>
            <a:srgbClr val="5ACBF0"/>
          </p15:clr>
        </p15:guide>
        <p15:guide id="13" pos="7401">
          <p15:clr>
            <a:srgbClr val="F26B43"/>
          </p15:clr>
        </p15:guide>
        <p15:guide id="14" orient="horz" pos="3475">
          <p15:clr>
            <a:srgbClr val="F26B43"/>
          </p15:clr>
        </p15:guide>
        <p15:guide id="15" orient="horz" pos="278">
          <p15:clr>
            <a:srgbClr val="F26B43"/>
          </p15:clr>
        </p15:guide>
        <p15:guide id="16" orient="horz" pos="2886">
          <p15:clr>
            <a:srgbClr val="5ACBF0"/>
          </p15:clr>
        </p15:guide>
        <p15:guide id="17" orient="horz" pos="2591">
          <p15:clr>
            <a:srgbClr val="5ACBF0"/>
          </p15:clr>
        </p15:guide>
        <p15:guide id="18" orient="horz" pos="2024">
          <p15:clr>
            <a:srgbClr val="5ACBF0"/>
          </p15:clr>
        </p15:guide>
        <p15:guide id="19" orient="horz" pos="1729">
          <p15:clr>
            <a:srgbClr val="5ACBF0"/>
          </p15:clr>
        </p15:guide>
        <p15:guide id="20" orient="horz" pos="1162">
          <p15:clr>
            <a:srgbClr val="5ACBF0"/>
          </p15:clr>
        </p15:guide>
        <p15:guide id="21" orient="horz" pos="867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b="0" i="0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5" name="Google Shape;165;p6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6" name="Google Shape;166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7" name="Google Shape;167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8" name="Google Shape;168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100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sz="1100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sz="1100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sz="1100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sz="1100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sz="1100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sz="1100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sz="1100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sz="1100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2" name="Google Shape;262;p7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00"/>
              <a:buFont typeface="Garamond"/>
              <a:buNone/>
              <a:defRPr b="0" i="0" sz="53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3" name="Google Shape;263;p72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  <a:defRPr b="0" i="0" sz="2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Calibri"/>
              <a:buChar char="◦"/>
              <a:defRPr b="0" i="0" sz="20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64" name="Google Shape;264;p72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65" name="Google Shape;265;p72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66" name="Google Shape;266;p72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l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l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l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l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l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l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l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l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7" name="Google Shape;267;p72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7" name="Google Shape;347;p8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8" name="Google Shape;348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9" name="Google Shape;349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0" name="Google Shape;350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jp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jpg"/><Relationship Id="rId4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jpg"/><Relationship Id="rId4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jpg"/><Relationship Id="rId4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jp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jpg"/><Relationship Id="rId4" Type="http://schemas.openxmlformats.org/officeDocument/2006/relationships/image" Target="../media/image37.png"/><Relationship Id="rId5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jp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1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1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1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7" name="Google Shape;437;p1"/>
          <p:cNvSpPr/>
          <p:nvPr/>
        </p:nvSpPr>
        <p:spPr>
          <a:xfrm>
            <a:off x="1006997" y="259648"/>
            <a:ext cx="9456517" cy="2208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 # 9:Correlation in Regression</a:t>
            </a:r>
            <a:endParaRPr/>
          </a:p>
        </p:txBody>
      </p:sp>
      <p:pic>
        <p:nvPicPr>
          <p:cNvPr descr="A diagram of a vaccination&#10;&#10;Description automatically generated" id="438" name="Google Shape;43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4821" y="1966783"/>
            <a:ext cx="6771925" cy="4139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45" name="Google Shape;445;p2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2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7" name="Google Shape;447;p2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2"/>
          <p:cNvSpPr txBox="1"/>
          <p:nvPr/>
        </p:nvSpPr>
        <p:spPr>
          <a:xfrm>
            <a:off x="723900" y="597878"/>
            <a:ext cx="10744199" cy="5107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venir"/>
              <a:buNone/>
            </a:pPr>
            <a:r>
              <a:rPr b="0" i="0" lang="en-US" sz="28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 Lectures: Regression Modeling: </a:t>
            </a:r>
            <a:endParaRPr/>
          </a:p>
          <a:p>
            <a:pPr indent="-514350" lvl="1" marL="97155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1719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linear regression modeling</a:t>
            </a:r>
            <a:endParaRPr/>
          </a:p>
          <a:p>
            <a:pPr indent="-514350" lvl="1" marL="97155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1719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Robustness in Linear regression and why? Outlier</a:t>
            </a:r>
            <a:endParaRPr/>
          </a:p>
          <a:p>
            <a:pPr indent="-514350" lvl="1" marL="97155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1719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of simple linear with robust linear model: R-Squared</a:t>
            </a:r>
            <a:endParaRPr/>
          </a:p>
          <a:p>
            <a:pPr indent="-514350" lvl="1" marL="97155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1719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on anscomb.csv dataset</a:t>
            </a:r>
            <a:endParaRPr/>
          </a:p>
          <a:p>
            <a:pPr indent="-514350" lvl="1" marL="97155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1719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Polynomial Regression</a:t>
            </a:r>
            <a:endParaRPr/>
          </a:p>
          <a:p>
            <a:pPr indent="-387350" lvl="0" marL="5143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17191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92929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92929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92929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92929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7155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55" name="Google Shape;455;p3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3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3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3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" name="Google Shape;459;p3"/>
          <p:cNvSpPr txBox="1"/>
          <p:nvPr/>
        </p:nvSpPr>
        <p:spPr>
          <a:xfrm>
            <a:off x="1226026" y="672972"/>
            <a:ext cx="8274977" cy="44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venir"/>
              <a:buNone/>
            </a:pPr>
            <a:r>
              <a:rPr b="1" i="0" lang="en-US" sz="32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Overview: Linear Regression: </a:t>
            </a:r>
            <a:endParaRPr/>
          </a:p>
          <a:p>
            <a:pPr indent="-514350" lvl="0" marL="51435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 Correlation Coefficient</a:t>
            </a:r>
            <a:endParaRPr/>
          </a:p>
          <a:p>
            <a:pPr indent="-514350" lvl="1" marL="97155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need to study Pearson coefficient</a:t>
            </a:r>
            <a:endParaRPr/>
          </a:p>
          <a:p>
            <a:pPr indent="-514350" lvl="1" marL="97155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Determination Coefficient</a:t>
            </a:r>
            <a:endParaRPr/>
          </a:p>
          <a:p>
            <a:pPr indent="-514350" lvl="1" marL="97155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toy example of Pearson…</a:t>
            </a:r>
            <a:endParaRPr/>
          </a:p>
          <a:p>
            <a:pPr indent="-514350" lvl="1" marL="97155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 via Multi-variate Gaussian </a:t>
            </a:r>
            <a:endParaRPr/>
          </a:p>
          <a:p>
            <a:pPr indent="-514350" lvl="1" marL="97155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Pymc practice on above concepts.</a:t>
            </a:r>
            <a:endParaRPr/>
          </a:p>
          <a:p>
            <a:pPr indent="-387350" lvl="1" marL="97155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6" name="Google Shape;466;p4"/>
          <p:cNvSpPr txBox="1"/>
          <p:nvPr>
            <p:ph type="title"/>
          </p:nvPr>
        </p:nvSpPr>
        <p:spPr>
          <a:xfrm>
            <a:off x="293914" y="504824"/>
            <a:ext cx="11517086" cy="1167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Times New Roman"/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</p:txBody>
      </p:sp>
      <p:sp>
        <p:nvSpPr>
          <p:cNvPr id="467" name="Google Shape;467;p4"/>
          <p:cNvSpPr txBox="1"/>
          <p:nvPr>
            <p:ph idx="1" type="body"/>
          </p:nvPr>
        </p:nvSpPr>
        <p:spPr>
          <a:xfrm>
            <a:off x="255270" y="2555693"/>
            <a:ext cx="11327130" cy="2409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71500" lvl="0" marL="5715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Before multiple linear regression, how do we identify relationships among variables that may affect the model?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4" name="Google Shape;474;p5"/>
          <p:cNvSpPr txBox="1"/>
          <p:nvPr>
            <p:ph type="title"/>
          </p:nvPr>
        </p:nvSpPr>
        <p:spPr>
          <a:xfrm>
            <a:off x="293914" y="504824"/>
            <a:ext cx="11517086" cy="1167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Times New Roman"/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</p:txBody>
      </p:sp>
      <p:sp>
        <p:nvSpPr>
          <p:cNvPr id="475" name="Google Shape;475;p5"/>
          <p:cNvSpPr txBox="1"/>
          <p:nvPr>
            <p:ph idx="1" type="body"/>
          </p:nvPr>
        </p:nvSpPr>
        <p:spPr>
          <a:xfrm>
            <a:off x="0" y="2866818"/>
            <a:ext cx="12355286" cy="2409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71500" lvl="0" marL="5715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How do we know if two variables are related?</a:t>
            </a:r>
            <a:endParaRPr/>
          </a:p>
          <a:p>
            <a:pPr indent="-571500" lvl="1" marL="8001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3400"/>
              <a:buFont typeface="Arial"/>
              <a:buChar char="•"/>
            </a:pPr>
            <a:r>
              <a:rPr lang="en-US" sz="3400">
                <a:latin typeface="Times New Roman"/>
                <a:ea typeface="Times New Roman"/>
                <a:cs typeface="Times New Roman"/>
                <a:sym typeface="Times New Roman"/>
              </a:rPr>
              <a:t>Examples: study hours vs </a:t>
            </a:r>
            <a:r>
              <a:rPr lang="en-US" sz="3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marks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Cont…</a:t>
            </a:r>
            <a:endParaRPr/>
          </a:p>
        </p:txBody>
      </p:sp>
      <p:sp>
        <p:nvSpPr>
          <p:cNvPr id="482" name="Google Shape;482;p6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3" name="Google Shape;483;p6"/>
          <p:cNvSpPr txBox="1"/>
          <p:nvPr/>
        </p:nvSpPr>
        <p:spPr>
          <a:xfrm>
            <a:off x="500061" y="2442466"/>
            <a:ext cx="10296569" cy="22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need a way to measure relationship</a:t>
            </a:r>
            <a:endParaRPr/>
          </a:p>
          <a:p>
            <a:pPr indent="-571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Covariance ? 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−∞ to +∞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? 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 and 1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this useful before multiple linear regression?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90" name="Google Shape;490;p7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7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7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3" name="Google Shape;493;p7"/>
          <p:cNvSpPr/>
          <p:nvPr/>
        </p:nvSpPr>
        <p:spPr>
          <a:xfrm>
            <a:off x="-196865" y="107399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 correlation coefficient</a:t>
            </a:r>
            <a:endParaRPr/>
          </a:p>
        </p:txBody>
      </p:sp>
      <p:sp>
        <p:nvSpPr>
          <p:cNvPr id="494" name="Google Shape;494;p7"/>
          <p:cNvSpPr txBox="1"/>
          <p:nvPr/>
        </p:nvSpPr>
        <p:spPr>
          <a:xfrm>
            <a:off x="138263" y="920555"/>
            <a:ext cx="6652807" cy="4537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Measure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degree of (linear) dependence between two variables</a:t>
            </a:r>
            <a:endParaRPr/>
          </a:p>
          <a:p>
            <a:pPr indent="-514350" lvl="2" marL="142875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dependence: means how the variation of one variable impacts the other?</a:t>
            </a:r>
            <a:endParaRPr/>
          </a:p>
          <a:p>
            <a:pPr indent="-514350" lvl="2" marL="142875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Denoted by </a:t>
            </a: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-514350" lvl="2" marL="142875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values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Range within the interval [-1, 1]</a:t>
            </a:r>
            <a:endParaRPr/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Why?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The Pearson correlation coefficient is used in linear regression to measure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 and direction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linear relationship between two variables, helping assess their suitability for modeling a linear regression relationship</a:t>
            </a:r>
            <a:endParaRPr/>
          </a:p>
          <a:p>
            <a:pPr indent="0" lvl="2" marL="9144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diagram of a vaccination&#10;&#10;Description automatically generated" id="495" name="Google Shape;4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1612" y="1769383"/>
            <a:ext cx="5186379" cy="317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8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Correlation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8"/>
          <p:cNvSpPr txBox="1"/>
          <p:nvPr>
            <p:ph idx="1" type="body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56" r="0" t="-75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03" name="Google Shape;503;p8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Sample correlation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9"/>
          <p:cNvSpPr txBox="1"/>
          <p:nvPr>
            <p:ph idx="1" type="body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56" r="0" t="-75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11" name="Google Shape;511;p9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0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18" name="Google Shape;518;p10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10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p10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10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2" name="Google Shape;522;p10"/>
          <p:cNvSpPr/>
          <p:nvPr/>
        </p:nvSpPr>
        <p:spPr>
          <a:xfrm>
            <a:off x="-196865" y="107399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 correlation coefficient</a:t>
            </a:r>
            <a:endParaRPr/>
          </a:p>
        </p:txBody>
      </p:sp>
      <p:sp>
        <p:nvSpPr>
          <p:cNvPr id="523" name="Google Shape;523;p10"/>
          <p:cNvSpPr txBox="1"/>
          <p:nvPr/>
        </p:nvSpPr>
        <p:spPr>
          <a:xfrm>
            <a:off x="169606" y="1362076"/>
            <a:ext cx="4981231" cy="44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Linear regression sometime leads to auto correlation problem: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1: perfect positive Linear Relation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=-1: perfect negative Linear relation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r=0  : No relation </a:t>
            </a:r>
            <a:endParaRPr/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Symmetry in data will always result in </a:t>
            </a: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r=0.</a:t>
            </a:r>
            <a:endParaRPr/>
          </a:p>
        </p:txBody>
      </p:sp>
      <p:pic>
        <p:nvPicPr>
          <p:cNvPr id="524" name="Google Shape;5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0839" y="1752935"/>
            <a:ext cx="6972029" cy="3191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Row 1: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11"/>
          <p:cNvSpPr txBox="1"/>
          <p:nvPr>
            <p:ph idx="1" type="body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Linear relationships with different levels of noise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Direction matters</a:t>
            </a:r>
            <a:endParaRPr/>
          </a:p>
          <a:p>
            <a:pPr indent="-342900" lvl="1" marL="5715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Positive = upward</a:t>
            </a:r>
            <a:endParaRPr/>
          </a:p>
          <a:p>
            <a:pPr indent="-342900" lvl="1" marL="5715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Negative = downward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Strength (closeness to a straight line)</a:t>
            </a:r>
            <a:endParaRPr/>
          </a:p>
          <a:p>
            <a:pPr indent="-342900" lvl="1" marL="5715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Tighter cluster -&gt; correlation moves to +-1</a:t>
            </a:r>
            <a:endParaRPr/>
          </a:p>
          <a:p>
            <a:pPr indent="-342900" lvl="1" marL="5715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More spread -&gt; moves towards 0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0 is not random</a:t>
            </a:r>
            <a:endParaRPr/>
          </a:p>
          <a:p>
            <a:pPr indent="-342900" lvl="1" marL="5715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Simply means no upward or downward trend</a:t>
            </a:r>
            <a:endParaRPr/>
          </a:p>
          <a:p>
            <a:pPr indent="-342900" lvl="1" marL="5715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data may have structure</a:t>
            </a:r>
            <a:endParaRPr/>
          </a:p>
          <a:p>
            <a:pPr indent="-342900" lvl="2" marL="8001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You just can’t see it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11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3" name="Google Shape;5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1" y="2744337"/>
            <a:ext cx="5774427" cy="3977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3409" y="0"/>
            <a:ext cx="5528591" cy="25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2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Row 2: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12"/>
          <p:cNvSpPr txBox="1"/>
          <p:nvPr>
            <p:ph idx="1" type="body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Linear but with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different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slopes, including special cases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Shows:</a:t>
            </a:r>
            <a:endParaRPr/>
          </a:p>
          <a:p>
            <a:pPr indent="-342900" lvl="1" marL="5715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Perfect correlation</a:t>
            </a:r>
            <a:endParaRPr/>
          </a:p>
          <a:p>
            <a:pPr indent="-342900" lvl="1" marL="5715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Different slopes</a:t>
            </a:r>
            <a:endParaRPr/>
          </a:p>
          <a:p>
            <a:pPr indent="-342900" lvl="1" marL="5715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Undefined cases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Correlation ignores slope</a:t>
            </a:r>
            <a:endParaRPr/>
          </a:p>
          <a:p>
            <a:pPr indent="-342900" lvl="1" marL="5715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Only looks at:</a:t>
            </a:r>
            <a:endParaRPr/>
          </a:p>
          <a:p>
            <a:pPr indent="-342900" lvl="2" marL="8001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Do points lie on a straight line?</a:t>
            </a:r>
            <a:endParaRPr/>
          </a:p>
          <a:p>
            <a:pPr indent="-342900" lvl="2" marL="8001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Is it upward or downward?</a:t>
            </a:r>
            <a:endParaRPr/>
          </a:p>
          <a:p>
            <a:pPr indent="-342900" lvl="1" marL="5715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Undefined case (When Y is a constant):</a:t>
            </a:r>
            <a:endParaRPr/>
          </a:p>
          <a:p>
            <a:pPr indent="-342900" lvl="2" marL="8001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Variance of Y=0</a:t>
            </a:r>
            <a:endParaRPr/>
          </a:p>
          <a:p>
            <a:pPr indent="-342900" lvl="2" marL="8001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correlation formula divides by 0</a:t>
            </a:r>
            <a:endParaRPr/>
          </a:p>
          <a:p>
            <a:pPr indent="-248920" lvl="2" marL="8001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12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3" name="Google Shape;5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644905"/>
            <a:ext cx="5960919" cy="421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3409" y="0"/>
            <a:ext cx="5528591" cy="25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3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>
                <a:latin typeface="Times New Roman"/>
                <a:ea typeface="Times New Roman"/>
                <a:cs typeface="Times New Roman"/>
                <a:sym typeface="Times New Roman"/>
              </a:rPr>
              <a:t>What it does and does not measure?</a:t>
            </a: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p13"/>
          <p:cNvSpPr txBox="1"/>
          <p:nvPr>
            <p:ph idx="1" type="body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Does measure: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direction (positive or negative)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linearity (how well points fit a straight line)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Does not measure: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curve shape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strength of nonlinear relationships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symmetry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circular or periodic relationships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the slope of the line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whether X causes Y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That’s why some of the row bottom shapes in the previous slide look structured but  still have correlation 0.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2" name="Google Shape;552;p13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4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59" name="Google Shape;559;p14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p14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14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2" name="Google Shape;562;p14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3" name="Google Shape;563;p14"/>
          <p:cNvSpPr/>
          <p:nvPr/>
        </p:nvSpPr>
        <p:spPr>
          <a:xfrm>
            <a:off x="-833253" y="-249701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Determination coefficient</a:t>
            </a:r>
            <a:endParaRPr/>
          </a:p>
        </p:txBody>
      </p:sp>
      <p:sp>
        <p:nvSpPr>
          <p:cNvPr id="564" name="Google Shape;564;p14"/>
          <p:cNvSpPr txBox="1"/>
          <p:nvPr/>
        </p:nvSpPr>
        <p:spPr>
          <a:xfrm>
            <a:off x="130466" y="712910"/>
            <a:ext cx="11183620" cy="44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R-squared refer to: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proportion of the variance in the dependent variable that is predicted from the independent variable</a:t>
            </a: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determination coefficient (R-squared) measures the proportion of the variance in the dependent variable that can be explained by the independent variable(s) in a regression model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x= [2,4,5,6], </a:t>
            </a: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y= [4,8,9,10]                                  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x= same ,      </a:t>
            </a: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y= [4,8,7,9]  </a:t>
            </a:r>
            <a:endParaRPr/>
          </a:p>
        </p:txBody>
      </p:sp>
      <p:pic>
        <p:nvPicPr>
          <p:cNvPr id="565" name="Google Shape;5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895030"/>
            <a:ext cx="5624987" cy="3757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1668" y="2899828"/>
            <a:ext cx="5715631" cy="3752846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4"/>
          <p:cNvSpPr/>
          <p:nvPr/>
        </p:nvSpPr>
        <p:spPr>
          <a:xfrm>
            <a:off x="5180633" y="2802349"/>
            <a:ext cx="399722" cy="407607"/>
          </a:xfrm>
          <a:prstGeom prst="ellipse">
            <a:avLst/>
          </a:prstGeom>
          <a:solidFill>
            <a:schemeClr val="accent1">
              <a:alpha val="43921"/>
            </a:schemeClr>
          </a:solidFill>
          <a:ln cap="flat" cmpd="sng" w="12700">
            <a:solidFill>
              <a:srgbClr val="0C504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10921956" y="2776223"/>
            <a:ext cx="399722" cy="407607"/>
          </a:xfrm>
          <a:prstGeom prst="ellipse">
            <a:avLst/>
          </a:prstGeom>
          <a:solidFill>
            <a:schemeClr val="accent1">
              <a:alpha val="43921"/>
            </a:schemeClr>
          </a:solidFill>
          <a:ln cap="flat" cmpd="sng" w="12700">
            <a:solidFill>
              <a:srgbClr val="0C504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5"/>
          <p:cNvSpPr txBox="1"/>
          <p:nvPr>
            <p:ph type="title"/>
          </p:nvPr>
        </p:nvSpPr>
        <p:spPr>
          <a:xfrm>
            <a:off x="385557" y="219919"/>
            <a:ext cx="10972800" cy="832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Calculate the R-squared</a:t>
            </a:r>
            <a:endParaRPr/>
          </a:p>
        </p:txBody>
      </p:sp>
      <p:sp>
        <p:nvSpPr>
          <p:cNvPr id="574" name="Google Shape;574;p15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5" name="Google Shape;575;p15"/>
          <p:cNvPicPr preferRelativeResize="0"/>
          <p:nvPr/>
        </p:nvPicPr>
        <p:blipFill rotWithShape="1">
          <a:blip r:embed="rId3">
            <a:alphaModFix/>
          </a:blip>
          <a:srcRect b="0" l="0" r="0" t="8347"/>
          <a:stretch/>
        </p:blipFill>
        <p:spPr>
          <a:xfrm>
            <a:off x="997784" y="1191690"/>
            <a:ext cx="9136816" cy="5529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6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2581" l="-2222" r="0" t="0"/>
            </a:stretch>
          </a:blip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82" name="Google Shape;582;p16"/>
          <p:cNvSpPr txBox="1"/>
          <p:nvPr>
            <p:ph idx="1" type="body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56" r="0" t="-9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83" name="Google Shape;583;p16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7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>
                <a:latin typeface="Times New Roman"/>
                <a:ea typeface="Times New Roman"/>
                <a:cs typeface="Times New Roman"/>
                <a:sym typeface="Times New Roman"/>
              </a:rPr>
              <a:t>SST – Total variation</a:t>
            </a: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17"/>
          <p:cNvSpPr txBox="1"/>
          <p:nvPr>
            <p:ph idx="1" type="body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653" l="-278" r="0" t="-3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91" name="Google Shape;591;p17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8"/>
          <p:cNvSpPr txBox="1"/>
          <p:nvPr>
            <p:ph type="title"/>
          </p:nvPr>
        </p:nvSpPr>
        <p:spPr>
          <a:xfrm>
            <a:off x="609600" y="557784"/>
            <a:ext cx="1141182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>
                <a:latin typeface="Times New Roman"/>
                <a:ea typeface="Times New Roman"/>
                <a:cs typeface="Times New Roman"/>
                <a:sym typeface="Times New Roman"/>
              </a:rPr>
              <a:t>SSE – Unexplained variation</a:t>
            </a: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18"/>
          <p:cNvSpPr txBox="1"/>
          <p:nvPr>
            <p:ph idx="1" type="body"/>
          </p:nvPr>
        </p:nvSpPr>
        <p:spPr>
          <a:xfrm>
            <a:off x="609600" y="2106204"/>
            <a:ext cx="11411824" cy="40365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063" l="-801" r="0" t="-9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99" name="Google Shape;599;p18"/>
          <p:cNvSpPr txBox="1"/>
          <p:nvPr>
            <p:ph idx="12" type="sldNum"/>
          </p:nvPr>
        </p:nvSpPr>
        <p:spPr>
          <a:xfrm>
            <a:off x="10134599" y="6356350"/>
            <a:ext cx="1505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9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606" name="Google Shape;606;p19"/>
          <p:cNvSpPr txBox="1"/>
          <p:nvPr>
            <p:ph idx="1" type="body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069" l="-27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607" name="Google Shape;607;p19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0"/>
          <p:cNvSpPr txBox="1"/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614" name="Google Shape;614;p20"/>
          <p:cNvSpPr txBox="1"/>
          <p:nvPr>
            <p:ph idx="1" type="body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8127" l="-278" r="0" t="-3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615" name="Google Shape;615;p20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1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622" name="Google Shape;622;p21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623" name="Google Shape;623;p21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21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p21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6" name="Google Shape;626;p21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7" name="Google Shape;627;p21"/>
          <p:cNvSpPr/>
          <p:nvPr/>
        </p:nvSpPr>
        <p:spPr>
          <a:xfrm>
            <a:off x="-833253" y="-249701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Determination coefficient</a:t>
            </a:r>
            <a:endParaRPr/>
          </a:p>
        </p:txBody>
      </p:sp>
      <p:grpSp>
        <p:nvGrpSpPr>
          <p:cNvPr id="628" name="Google Shape;628;p21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629" name="Google Shape;629;p21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0" name="Google Shape;630;p21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631" name="Google Shape;631;p21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632" name="Google Shape;632;p21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3" name="Google Shape;633;p21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634" name="Google Shape;634;p21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635" name="Google Shape;635;p21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6" name="Google Shape;636;p21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</a:t>
              </a:r>
              <a:endParaRPr sz="1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637" name="Google Shape;637;p21"/>
          <p:cNvSpPr txBox="1"/>
          <p:nvPr/>
        </p:nvSpPr>
        <p:spPr>
          <a:xfrm>
            <a:off x="130466" y="712910"/>
            <a:ext cx="11183620" cy="44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b="0" lang="en-US" sz="2000" u="non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R-squared refer to: </a:t>
            </a:r>
            <a:r>
              <a:rPr b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proportion of the variance in the dependent variable that is predicted from the independent variable</a:t>
            </a:r>
            <a:r>
              <a:rPr b="0" lang="en-US" sz="2000" u="non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b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b="0" sz="2000" u="none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8" name="Google Shape;6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413" y="2327944"/>
            <a:ext cx="5098147" cy="333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0042" y="2327944"/>
            <a:ext cx="4823176" cy="3147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1"/>
          <p:cNvSpPr/>
          <p:nvPr/>
        </p:nvSpPr>
        <p:spPr>
          <a:xfrm>
            <a:off x="4277032" y="2121030"/>
            <a:ext cx="272715" cy="7204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0C504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9828543" y="1553357"/>
            <a:ext cx="272715" cy="7204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0C504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2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648" name="Google Shape;648;p22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649" name="Google Shape;649;p22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0" name="Google Shape;650;p22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1" name="Google Shape;651;p22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2" name="Google Shape;652;p22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3" name="Google Shape;653;p22"/>
          <p:cNvSpPr/>
          <p:nvPr/>
        </p:nvSpPr>
        <p:spPr>
          <a:xfrm>
            <a:off x="-833253" y="-249701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 &amp; Determination coefficient</a:t>
            </a:r>
            <a:endParaRPr/>
          </a:p>
        </p:txBody>
      </p:sp>
      <p:grpSp>
        <p:nvGrpSpPr>
          <p:cNvPr id="654" name="Google Shape;654;p22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655" name="Google Shape;655;p22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6" name="Google Shape;656;p22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657" name="Google Shape;657;p22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658" name="Google Shape;658;p22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9" name="Google Shape;659;p22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660" name="Google Shape;660;p22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661" name="Google Shape;661;p22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62" name="Google Shape;662;p22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</a:t>
              </a:r>
              <a:endParaRPr sz="1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663" name="Google Shape;663;p22"/>
          <p:cNvSpPr txBox="1"/>
          <p:nvPr/>
        </p:nvSpPr>
        <p:spPr>
          <a:xfrm>
            <a:off x="130466" y="712910"/>
            <a:ext cx="11183620" cy="44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ranges and interpretation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1" marL="4572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Pearson correlation coefficient (r) ranges from -1 to 1, where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/>
          </a:p>
          <a:p>
            <a:pPr indent="0" lvl="1" marL="4572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1 indicates a perfect positive linear relationship.</a:t>
            </a:r>
            <a:endParaRPr/>
          </a:p>
          <a:p>
            <a:pPr indent="0" lvl="1" marL="4572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-1 indicates a perfect negative linear relationship.</a:t>
            </a:r>
            <a:endParaRPr/>
          </a:p>
          <a:p>
            <a:pPr indent="0" lvl="1" marL="4572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0 indicates no linear relationship.</a:t>
            </a:r>
            <a:endParaRPr/>
          </a:p>
          <a:p>
            <a:pPr indent="0" lvl="1" marL="4572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8001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R-squared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(R^2) ranges from 0 to 1, representing the proportion of variance in the dependent variable explained by the independent variable(s) in a linear regression model. </a:t>
            </a:r>
            <a:r>
              <a:rPr b="0" i="0" lang="en-US" sz="2000" u="none" cap="none" strike="noStrike">
                <a:solidFill>
                  <a:srgbClr val="539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word a measure to test the fit of the regression line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3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670" name="Google Shape;670;p23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671" name="Google Shape;671;p23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2" name="Google Shape;672;p23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23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4" name="Google Shape;674;p23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5" name="Google Shape;675;p23"/>
          <p:cNvSpPr/>
          <p:nvPr/>
        </p:nvSpPr>
        <p:spPr>
          <a:xfrm>
            <a:off x="-247199" y="-200116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 correlation coefficient</a:t>
            </a:r>
            <a:endParaRPr/>
          </a:p>
        </p:txBody>
      </p:sp>
      <p:grpSp>
        <p:nvGrpSpPr>
          <p:cNvPr id="676" name="Google Shape;676;p23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677" name="Google Shape;677;p23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78" name="Google Shape;678;p23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679" name="Google Shape;679;p23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680" name="Google Shape;680;p23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1" name="Google Shape;681;p23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682" name="Google Shape;682;p23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683" name="Google Shape;683;p23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4" name="Google Shape;684;p23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</a:t>
              </a:r>
              <a:endParaRPr sz="1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685" name="Google Shape;685;p23"/>
          <p:cNvSpPr txBox="1"/>
          <p:nvPr/>
        </p:nvSpPr>
        <p:spPr>
          <a:xfrm>
            <a:off x="0" y="102495"/>
            <a:ext cx="11312581" cy="5599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toy Example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Assume we have data,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 [1, 2, 3, 4, 5]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Y: [2, 3, 4, 5, 6]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calculate the means (average) of X and Y</a:t>
            </a:r>
            <a:endParaRPr/>
          </a:p>
          <a:p>
            <a:pPr indent="0" lvl="3" marL="13716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Mean(X) = (1 + 2 + 3 + 4 + 5) / 5 = 3</a:t>
            </a:r>
            <a:endParaRPr/>
          </a:p>
          <a:p>
            <a:pPr indent="0" lvl="3" marL="13716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Mean(Y) = (2 + 3 + 4 + 5 + 6) / 5 = 4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Next, calculate the covariance between X and Y using the formula 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Cov(X, Y) = Σ[(X - Mean(X)) * (Y - Mean(Y))] / (n - 1)</a:t>
            </a:r>
            <a:endParaRPr/>
          </a:p>
          <a:p>
            <a:pPr indent="0" lvl="3" marL="13716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Cov(X, Y) = 2.5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Next, we need std 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σ(X)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√[Σ(X - Mean(X))^2 / (n - 1)]      </a:t>
            </a: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σ(Y)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√[Σ(Y - Mean(Y))^2 / (n - 1)]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4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692" name="Google Shape;692;p24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693" name="Google Shape;693;p24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4" name="Google Shape;694;p24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24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24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7" name="Google Shape;697;p24"/>
          <p:cNvSpPr/>
          <p:nvPr/>
        </p:nvSpPr>
        <p:spPr>
          <a:xfrm>
            <a:off x="-247199" y="-200116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 correlation coefficient</a:t>
            </a:r>
            <a:endParaRPr/>
          </a:p>
        </p:txBody>
      </p:sp>
      <p:grpSp>
        <p:nvGrpSpPr>
          <p:cNvPr id="698" name="Google Shape;698;p24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699" name="Google Shape;699;p24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0" name="Google Shape;700;p24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701" name="Google Shape;701;p24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702" name="Google Shape;702;p24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3" name="Google Shape;703;p24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704" name="Google Shape;704;p24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705" name="Google Shape;705;p24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6" name="Google Shape;706;p24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</a:t>
              </a:r>
              <a:endParaRPr sz="1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707" name="Google Shape;707;p24"/>
          <p:cNvSpPr txBox="1"/>
          <p:nvPr/>
        </p:nvSpPr>
        <p:spPr>
          <a:xfrm>
            <a:off x="0" y="102495"/>
            <a:ext cx="11582399" cy="5114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Cov(X, Y) = 2.5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σ(X) = √(2.4532) ≈ 1.58           &amp;         σ(Y) = √(2.5332) ≈ 1.58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ρ(X, Y) = Cov(X, Y) / (σ(X) * σ(Y))</a:t>
            </a:r>
            <a:endParaRPr/>
          </a:p>
          <a:p>
            <a:pPr indent="0" lvl="4" marL="18288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ρ(X, Y) = 2.5 / (1.58 * 1.58)</a:t>
            </a:r>
            <a:endParaRPr/>
          </a:p>
          <a:p>
            <a:pPr indent="0" lvl="4" marL="18288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ρ(X, Y) ≈ </a:t>
            </a: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in this toy example, the Pearson correlation coefficient between X and Y is approximately </a:t>
            </a: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indicating a positive linear relationship between the two variables.</a:t>
            </a:r>
            <a:endParaRPr/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5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714" name="Google Shape;714;p25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715" name="Google Shape;715;p25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25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25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25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9" name="Google Shape;719;p25"/>
          <p:cNvSpPr/>
          <p:nvPr/>
        </p:nvSpPr>
        <p:spPr>
          <a:xfrm>
            <a:off x="-247199" y="-200116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 correlation coefficient</a:t>
            </a:r>
            <a:endParaRPr/>
          </a:p>
        </p:txBody>
      </p:sp>
      <p:grpSp>
        <p:nvGrpSpPr>
          <p:cNvPr id="720" name="Google Shape;720;p25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721" name="Google Shape;721;p25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2" name="Google Shape;722;p25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723" name="Google Shape;723;p25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724" name="Google Shape;724;p25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5" name="Google Shape;725;p25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726" name="Google Shape;726;p25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727" name="Google Shape;727;p25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8" name="Google Shape;728;p25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</a:t>
              </a:r>
              <a:endParaRPr sz="1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729" name="Google Shape;729;p25"/>
          <p:cNvSpPr txBox="1"/>
          <p:nvPr/>
        </p:nvSpPr>
        <p:spPr>
          <a:xfrm>
            <a:off x="-117446" y="-364866"/>
            <a:ext cx="11582399" cy="587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Assume we have data,</a:t>
            </a:r>
            <a:endParaRPr/>
          </a:p>
          <a:p>
            <a:pPr indent="0" lvl="3" marL="13716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X: [1, 2, 3, 4, 5]</a:t>
            </a:r>
            <a:endParaRPr/>
          </a:p>
          <a:p>
            <a:pPr indent="0" lvl="3" marL="13716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Y: [2, 3, 4, 5, 6]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Calculate Means (Averages):</a:t>
            </a:r>
            <a:endParaRPr/>
          </a:p>
          <a:p>
            <a:pPr indent="0" lvl="3" marL="13716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Mean(X) = 3</a:t>
            </a:r>
            <a:endParaRPr/>
          </a:p>
          <a:p>
            <a:pPr indent="0" lvl="3" marL="13716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Mean(Y) = 4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Calculate :</a:t>
            </a:r>
            <a:endParaRPr/>
          </a:p>
          <a:p>
            <a:pPr indent="0" lvl="3" marL="13716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Var(X) = 2.5</a:t>
            </a:r>
            <a:endParaRPr/>
          </a:p>
          <a:p>
            <a:pPr indent="0" lvl="3" marL="13716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Var(Y) = 2.5</a:t>
            </a:r>
            <a:endParaRPr/>
          </a:p>
          <a:p>
            <a:pPr indent="0" lvl="3" marL="13716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Cov(X, Y) = 2.5</a:t>
            </a:r>
            <a:endParaRPr/>
          </a:p>
          <a:p>
            <a:pPr indent="0" lvl="3" marL="13716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σ(X) = √Var(X) ≈ 1.58</a:t>
            </a:r>
            <a:endParaRPr/>
          </a:p>
          <a:p>
            <a:pPr indent="0" lvl="3" marL="13716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σ(Y) = √Var(Y) ≈ 1.58</a:t>
            </a:r>
            <a:endParaRPr/>
          </a:p>
          <a:p>
            <a:pPr indent="-400050" lvl="2" marL="142875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6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736" name="Google Shape;736;p26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737" name="Google Shape;737;p26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8" name="Google Shape;738;p26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9" name="Google Shape;739;p26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0" name="Google Shape;740;p26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1" name="Google Shape;741;p26"/>
          <p:cNvSpPr/>
          <p:nvPr/>
        </p:nvSpPr>
        <p:spPr>
          <a:xfrm>
            <a:off x="-247199" y="-200116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 correlation coefficient</a:t>
            </a:r>
            <a:endParaRPr/>
          </a:p>
        </p:txBody>
      </p:sp>
      <p:grpSp>
        <p:nvGrpSpPr>
          <p:cNvPr id="742" name="Google Shape;742;p26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743" name="Google Shape;743;p26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4" name="Google Shape;744;p26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745" name="Google Shape;745;p26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746" name="Google Shape;746;p26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7" name="Google Shape;747;p26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748" name="Google Shape;748;p26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749" name="Google Shape;749;p26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0" name="Google Shape;750;p26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</a:t>
              </a:r>
              <a:endParaRPr sz="1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751" name="Google Shape;751;p26"/>
          <p:cNvSpPr txBox="1"/>
          <p:nvPr/>
        </p:nvSpPr>
        <p:spPr>
          <a:xfrm>
            <a:off x="0" y="-126465"/>
            <a:ext cx="11582399" cy="587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Calculate Pearson Correlation Coefficient:</a:t>
            </a:r>
            <a:endParaRPr/>
          </a:p>
          <a:p>
            <a:pPr indent="0" lvl="2" marL="9144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venir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ρ(X, Y) = Cov(X, Y) / (σ(X) * σ(Y))</a:t>
            </a:r>
            <a:endParaRPr/>
          </a:p>
          <a:p>
            <a:pPr indent="0" lvl="2" marL="9144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venir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ρ(X, Y) = 2.5 / (1.58 * 1.58)</a:t>
            </a:r>
            <a:endParaRPr/>
          </a:p>
          <a:p>
            <a:pPr indent="0" lvl="2" marL="914400" marR="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venir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ρ(X, Y) ≈ </a:t>
            </a:r>
            <a:r>
              <a:rPr b="0" i="0" lang="en-US" sz="2000" u="none" cap="none" strike="noStrike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(positive linear relationship)</a:t>
            </a:r>
            <a:endParaRPr/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7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758" name="Google Shape;758;p27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759" name="Google Shape;759;p27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0" name="Google Shape;760;p27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1" name="Google Shape;761;p27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2" name="Google Shape;762;p27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3" name="Google Shape;763;p27"/>
          <p:cNvSpPr txBox="1"/>
          <p:nvPr/>
        </p:nvSpPr>
        <p:spPr>
          <a:xfrm>
            <a:off x="169607" y="1362077"/>
            <a:ext cx="7334384" cy="4394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endParaRPr sz="2000">
              <a:solidFill>
                <a:srgbClr val="37415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Linear Regression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linear Regression</a:t>
            </a:r>
            <a:endParaRPr/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4" name="Google Shape;764;p27"/>
          <p:cNvSpPr/>
          <p:nvPr/>
        </p:nvSpPr>
        <p:spPr>
          <a:xfrm>
            <a:off x="-196865" y="107399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we check ?</a:t>
            </a:r>
            <a:endParaRPr/>
          </a:p>
        </p:txBody>
      </p:sp>
      <p:grpSp>
        <p:nvGrpSpPr>
          <p:cNvPr id="765" name="Google Shape;765;p27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766" name="Google Shape;766;p27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7" name="Google Shape;767;p27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768" name="Google Shape;768;p27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769" name="Google Shape;769;p27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0" name="Google Shape;770;p27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771" name="Google Shape;771;p27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772" name="Google Shape;772;p27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3" name="Google Shape;773;p27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Pymc3</a:t>
              </a:r>
              <a:endParaRPr/>
            </a:p>
          </p:txBody>
        </p:sp>
      </p:grpSp>
      <p:pic>
        <p:nvPicPr>
          <p:cNvPr descr="A graph of a simple linear regression&#10;&#10;Description automatically generated" id="774" name="Google Shape;77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3378" y="1395443"/>
            <a:ext cx="3724208" cy="20616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with colored lines and dots&#10;&#10;Description automatically generated" id="775" name="Google Shape;77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4646" y="1352491"/>
            <a:ext cx="2841265" cy="2130949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27"/>
          <p:cNvSpPr txBox="1"/>
          <p:nvPr/>
        </p:nvSpPr>
        <p:spPr>
          <a:xfrm>
            <a:off x="169607" y="1812821"/>
            <a:ext cx="7334384" cy="4394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51435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77" name="Google Shape;777;p27"/>
          <p:cNvGraphicFramePr/>
          <p:nvPr/>
        </p:nvGraphicFramePr>
        <p:xfrm>
          <a:off x="5709503" y="35505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{83632ACA-1FF6-4B57-A641-BF4D07396B35}</a:tableStyleId>
              </a:tblPr>
              <a:tblGrid>
                <a:gridCol w="738750"/>
                <a:gridCol w="738750"/>
              </a:tblGrid>
              <a:tr h="36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6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78" name="Google Shape;778;p27"/>
          <p:cNvGraphicFramePr/>
          <p:nvPr/>
        </p:nvGraphicFramePr>
        <p:xfrm>
          <a:off x="9209038" y="35505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{83632ACA-1FF6-4B57-A641-BF4D07396B35}</a:tableStyleId>
              </a:tblPr>
              <a:tblGrid>
                <a:gridCol w="549825"/>
                <a:gridCol w="549825"/>
                <a:gridCol w="549825"/>
              </a:tblGrid>
              <a:tr h="257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r>
                        <a:rPr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r>
                        <a:rPr baseline="-2500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25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25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79" name="Google Shape;779;p27"/>
          <p:cNvSpPr txBox="1"/>
          <p:nvPr/>
        </p:nvSpPr>
        <p:spPr>
          <a:xfrm>
            <a:off x="4730627" y="5108804"/>
            <a:ext cx="3616959" cy="581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 correlation Coefficient</a:t>
            </a:r>
            <a:endParaRPr/>
          </a:p>
        </p:txBody>
      </p:sp>
      <p:pic>
        <p:nvPicPr>
          <p:cNvPr descr="A white question mark on a black background&#10;&#10;Description automatically generated" id="780" name="Google Shape;78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11399" y="3638696"/>
            <a:ext cx="2322794" cy="2322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8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787" name="Google Shape;787;p28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788" name="Google Shape;788;p28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9" name="Google Shape;789;p28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0" name="Google Shape;790;p28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1" name="Google Shape;791;p28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2" name="Google Shape;792;p28"/>
          <p:cNvSpPr/>
          <p:nvPr/>
        </p:nvSpPr>
        <p:spPr>
          <a:xfrm>
            <a:off x="-196865" y="107399"/>
            <a:ext cx="12388865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Multi-Variate Gaussian Distributions</a:t>
            </a:r>
            <a:endParaRPr/>
          </a:p>
        </p:txBody>
      </p:sp>
      <p:grpSp>
        <p:nvGrpSpPr>
          <p:cNvPr id="793" name="Google Shape;793;p28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794" name="Google Shape;794;p28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95" name="Google Shape;795;p28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796" name="Google Shape;796;p28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797" name="Google Shape;797;p28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98" name="Google Shape;798;p28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799" name="Google Shape;799;p28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800" name="Google Shape;800;p28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1" name="Google Shape;801;p28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</a:t>
              </a:r>
              <a:endParaRPr sz="1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802" name="Google Shape;802;p28"/>
          <p:cNvSpPr txBox="1"/>
          <p:nvPr/>
        </p:nvSpPr>
        <p:spPr>
          <a:xfrm>
            <a:off x="169607" y="1362076"/>
            <a:ext cx="7104572" cy="44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Linear regression sometime leads to auto correlation problem: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Multivariate Gaussian Distribution: A probability distribution that describes the joint behavior of multiple variables</a:t>
            </a:r>
            <a:endParaRPr/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Imagine multiple measurements (e.g., height, weight) for a group of people. The multivariate Gaussian helps describe how these measurements relate and vary together.</a:t>
            </a:r>
            <a:endParaRPr/>
          </a:p>
        </p:txBody>
      </p:sp>
      <p:pic>
        <p:nvPicPr>
          <p:cNvPr descr="A graph of a function&#10;&#10;Description automatically generated" id="803" name="Google Shape;80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4081" y="1499413"/>
            <a:ext cx="5008787" cy="3789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9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810" name="Google Shape;810;p29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811" name="Google Shape;811;p29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2" name="Google Shape;812;p29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3" name="Google Shape;813;p29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4" name="Google Shape;814;p29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5" name="Google Shape;815;p29"/>
          <p:cNvSpPr/>
          <p:nvPr/>
        </p:nvSpPr>
        <p:spPr>
          <a:xfrm>
            <a:off x="-196865" y="107399"/>
            <a:ext cx="12388865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Co-variance Matrix</a:t>
            </a:r>
            <a:endParaRPr/>
          </a:p>
        </p:txBody>
      </p:sp>
      <p:grpSp>
        <p:nvGrpSpPr>
          <p:cNvPr id="816" name="Google Shape;816;p29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817" name="Google Shape;817;p29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8" name="Google Shape;818;p29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819" name="Google Shape;819;p29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820" name="Google Shape;820;p29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1" name="Google Shape;821;p29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822" name="Google Shape;822;p29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823" name="Google Shape;823;p29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4" name="Google Shape;824;p29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</a:t>
              </a:r>
              <a:endParaRPr sz="1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825" name="Google Shape;825;p29"/>
          <p:cNvSpPr txBox="1"/>
          <p:nvPr/>
        </p:nvSpPr>
        <p:spPr>
          <a:xfrm>
            <a:off x="169605" y="1086005"/>
            <a:ext cx="6627433" cy="43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Covariance Matrix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Co-variance matrix represents, how the variables are related and their joint behavior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Diagonal Elements: Represent variances of individual variables 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Off-Diagonal Elements: Show how variables relate to each other (positive, negative, or no relation).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Usefulness: Helps analyze relationships in data, used in finance, data analysis, and machine learning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covariance matrix is essential for defining the multivariate Gaussian distribution's shape and relationships between its variables</a:t>
            </a:r>
            <a:endParaRPr/>
          </a:p>
        </p:txBody>
      </p:sp>
      <p:pic>
        <p:nvPicPr>
          <p:cNvPr id="826" name="Google Shape;8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8231" y="2997882"/>
            <a:ext cx="4068470" cy="145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0"/>
          <p:cNvSpPr txBox="1"/>
          <p:nvPr>
            <p:ph type="title"/>
          </p:nvPr>
        </p:nvSpPr>
        <p:spPr>
          <a:xfrm>
            <a:off x="523875" y="0"/>
            <a:ext cx="112661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How Correlation and Variance Shape the Joint Distribution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3" name="Google Shape;833;p30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4" name="Google Shape;83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32" y="1692210"/>
            <a:ext cx="11556113" cy="536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1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841" name="Google Shape;841;p31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842" name="Google Shape;842;p31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3" name="Google Shape;843;p31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4" name="Google Shape;844;p31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5" name="Google Shape;845;p31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6" name="Google Shape;846;p31"/>
          <p:cNvSpPr/>
          <p:nvPr/>
        </p:nvSpPr>
        <p:spPr>
          <a:xfrm>
            <a:off x="-247199" y="-200116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model the Pearson correlation</a:t>
            </a:r>
            <a:endParaRPr/>
          </a:p>
        </p:txBody>
      </p:sp>
      <p:grpSp>
        <p:nvGrpSpPr>
          <p:cNvPr id="847" name="Google Shape;847;p31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848" name="Google Shape;848;p31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9" name="Google Shape;849;p31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850" name="Google Shape;850;p31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851" name="Google Shape;851;p31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2" name="Google Shape;852;p31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853" name="Google Shape;853;p31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854" name="Google Shape;854;p31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5" name="Google Shape;855;p31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</a:t>
              </a:r>
              <a:endParaRPr sz="1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856" name="Google Shape;856;p31"/>
          <p:cNvSpPr txBox="1"/>
          <p:nvPr/>
        </p:nvSpPr>
        <p:spPr>
          <a:xfrm>
            <a:off x="0" y="-126465"/>
            <a:ext cx="11582399" cy="587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Comparison to gaussian model what’s new in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model?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 Variable for r</a:t>
            </a:r>
            <a:r>
              <a:rPr baseline="30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Estimation Cov- Matrix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Likelihood </a:t>
            </a:r>
            <a:endParaRPr/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7" name="Google Shape;85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2370" y="1817325"/>
            <a:ext cx="6021367" cy="3769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2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864" name="Google Shape;864;p32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865" name="Google Shape;865;p32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6" name="Google Shape;866;p32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7" name="Google Shape;867;p32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8" name="Google Shape;868;p32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9" name="Google Shape;869;p32"/>
          <p:cNvSpPr/>
          <p:nvPr/>
        </p:nvSpPr>
        <p:spPr>
          <a:xfrm>
            <a:off x="-247199" y="-200116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model the Pearson correlation</a:t>
            </a:r>
            <a:endParaRPr/>
          </a:p>
        </p:txBody>
      </p:sp>
      <p:grpSp>
        <p:nvGrpSpPr>
          <p:cNvPr id="870" name="Google Shape;870;p32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871" name="Google Shape;871;p32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2" name="Google Shape;872;p32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873" name="Google Shape;873;p32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874" name="Google Shape;874;p32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5" name="Google Shape;875;p32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876" name="Google Shape;876;p32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877" name="Google Shape;877;p32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8" name="Google Shape;878;p32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Pymc3</a:t>
              </a:r>
              <a:endParaRPr/>
            </a:p>
          </p:txBody>
        </p:sp>
      </p:grpSp>
      <p:sp>
        <p:nvSpPr>
          <p:cNvPr id="879" name="Google Shape;879;p32"/>
          <p:cNvSpPr txBox="1"/>
          <p:nvPr/>
        </p:nvSpPr>
        <p:spPr>
          <a:xfrm>
            <a:off x="0" y="-126465"/>
            <a:ext cx="11582399" cy="587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Comparison to gaussian model what’s new in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model?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0" name="Google Shape;880;p32"/>
          <p:cNvSpPr/>
          <p:nvPr/>
        </p:nvSpPr>
        <p:spPr>
          <a:xfrm>
            <a:off x="4508156" y="3108097"/>
            <a:ext cx="3280479" cy="16310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rgbClr val="37415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</a:t>
            </a:r>
            <a:r>
              <a:rPr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∼ Uniform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7415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sigma</a:t>
            </a:r>
            <a:r>
              <a:rPr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∼ Half Normal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Co-vaMatrix</a:t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Likelihood ∼ MvNormal </a:t>
            </a:r>
            <a:endParaRPr sz="11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            </a:t>
            </a:r>
            <a:endParaRPr sz="12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81" name="Google Shape;881;p32"/>
          <p:cNvSpPr/>
          <p:nvPr/>
        </p:nvSpPr>
        <p:spPr>
          <a:xfrm>
            <a:off x="490044" y="3429000"/>
            <a:ext cx="2298356" cy="6903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Data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Synthetic Data</a:t>
            </a:r>
            <a:endParaRPr/>
          </a:p>
        </p:txBody>
      </p:sp>
      <p:sp>
        <p:nvSpPr>
          <p:cNvPr id="882" name="Google Shape;882;p32"/>
          <p:cNvSpPr txBox="1"/>
          <p:nvPr/>
        </p:nvSpPr>
        <p:spPr>
          <a:xfrm>
            <a:off x="4307231" y="2738765"/>
            <a:ext cx="3577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Multi-Variate Gaussian Model</a:t>
            </a:r>
            <a:endParaRPr/>
          </a:p>
        </p:txBody>
      </p:sp>
      <p:pic>
        <p:nvPicPr>
          <p:cNvPr id="883" name="Google Shape;88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281" y="4223948"/>
            <a:ext cx="7239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9662" y="4262047"/>
            <a:ext cx="752475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32"/>
          <p:cNvSpPr/>
          <p:nvPr/>
        </p:nvSpPr>
        <p:spPr>
          <a:xfrm>
            <a:off x="2998839" y="3701541"/>
            <a:ext cx="904567" cy="3083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0C504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86" name="Google Shape;886;p32"/>
          <p:cNvSpPr/>
          <p:nvPr/>
        </p:nvSpPr>
        <p:spPr>
          <a:xfrm>
            <a:off x="7908342" y="3701541"/>
            <a:ext cx="904567" cy="3083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0C504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87" name="Google Shape;887;p32"/>
          <p:cNvSpPr/>
          <p:nvPr/>
        </p:nvSpPr>
        <p:spPr>
          <a:xfrm>
            <a:off x="8937813" y="3429000"/>
            <a:ext cx="2298356" cy="6903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P-Coeficient</a:t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venir"/>
                <a:ea typeface="Avenir"/>
                <a:cs typeface="Avenir"/>
                <a:sym typeface="Avenir"/>
              </a:rPr>
              <a:t>?</a:t>
            </a:r>
            <a:endParaRPr/>
          </a:p>
        </p:txBody>
      </p:sp>
      <p:pic>
        <p:nvPicPr>
          <p:cNvPr id="888" name="Google Shape;88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36485" y="2464437"/>
            <a:ext cx="7239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36486" y="2482011"/>
            <a:ext cx="723900" cy="858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01614" y="3975883"/>
            <a:ext cx="1453199" cy="14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3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897" name="Google Shape;897;p33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898" name="Google Shape;898;p33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9" name="Google Shape;899;p33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0" name="Google Shape;900;p33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1" name="Google Shape;901;p33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2" name="Google Shape;902;p33"/>
          <p:cNvSpPr/>
          <p:nvPr/>
        </p:nvSpPr>
        <p:spPr>
          <a:xfrm>
            <a:off x="-247199" y="-200116"/>
            <a:ext cx="12147339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model the Pearson correlation</a:t>
            </a:r>
            <a:endParaRPr/>
          </a:p>
        </p:txBody>
      </p:sp>
      <p:grpSp>
        <p:nvGrpSpPr>
          <p:cNvPr id="903" name="Google Shape;903;p33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904" name="Google Shape;904;p33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5" name="Google Shape;905;p33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906" name="Google Shape;906;p33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907" name="Google Shape;907;p33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8" name="Google Shape;908;p33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909" name="Google Shape;909;p33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910" name="Google Shape;910;p33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1" name="Google Shape;911;p33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Pymc3</a:t>
              </a:r>
              <a:endParaRPr/>
            </a:p>
          </p:txBody>
        </p:sp>
      </p:grpSp>
      <p:sp>
        <p:nvSpPr>
          <p:cNvPr id="912" name="Google Shape;912;p33"/>
          <p:cNvSpPr txBox="1"/>
          <p:nvPr/>
        </p:nvSpPr>
        <p:spPr>
          <a:xfrm>
            <a:off x="1" y="-126465"/>
            <a:ext cx="4841686" cy="587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Posterior summary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0.79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denotes performance of model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vary</a:t>
            </a:r>
            <a:endParaRPr/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168E7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3" name="Google Shape;91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4163" y="1274927"/>
            <a:ext cx="7443674" cy="1683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2282" y="2972262"/>
            <a:ext cx="6257858" cy="2752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4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921" name="Google Shape;921;p34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62076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922" name="Google Shape;922;p34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34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34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5" name="Google Shape;925;p34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26" name="Google Shape;926;p34"/>
          <p:cNvGrpSpPr/>
          <p:nvPr/>
        </p:nvGrpSpPr>
        <p:grpSpPr>
          <a:xfrm>
            <a:off x="2100379" y="5832227"/>
            <a:ext cx="3411317" cy="542558"/>
            <a:chOff x="457733" y="2302043"/>
            <a:chExt cx="3411317" cy="542558"/>
          </a:xfrm>
        </p:grpSpPr>
        <p:sp>
          <p:nvSpPr>
            <p:cNvPr id="927" name="Google Shape;927;p34"/>
            <p:cNvSpPr/>
            <p:nvPr/>
          </p:nvSpPr>
          <p:spPr>
            <a:xfrm>
              <a:off x="457733" y="2302043"/>
              <a:ext cx="3411317" cy="542558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28" name="Google Shape;928;p34"/>
            <p:cNvSpPr txBox="1"/>
            <p:nvPr/>
          </p:nvSpPr>
          <p:spPr>
            <a:xfrm>
              <a:off x="729012" y="2302043"/>
              <a:ext cx="2868759" cy="542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Regression</a:t>
              </a:r>
              <a:endParaRPr sz="1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929" name="Google Shape;929;p34"/>
          <p:cNvGrpSpPr/>
          <p:nvPr/>
        </p:nvGrpSpPr>
        <p:grpSpPr>
          <a:xfrm>
            <a:off x="4623378" y="5817087"/>
            <a:ext cx="3940145" cy="581894"/>
            <a:chOff x="3418405" y="2286903"/>
            <a:chExt cx="3502472" cy="581894"/>
          </a:xfrm>
        </p:grpSpPr>
        <p:sp>
          <p:nvSpPr>
            <p:cNvPr id="930" name="Google Shape;930;p34"/>
            <p:cNvSpPr/>
            <p:nvPr/>
          </p:nvSpPr>
          <p:spPr>
            <a:xfrm>
              <a:off x="3418405" y="2286903"/>
              <a:ext cx="3502472" cy="581894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0E5F4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1" name="Google Shape;931;p34"/>
            <p:cNvSpPr txBox="1"/>
            <p:nvPr/>
          </p:nvSpPr>
          <p:spPr>
            <a:xfrm>
              <a:off x="3709352" y="2286903"/>
              <a:ext cx="2920578" cy="581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Models</a:t>
              </a:r>
              <a:endParaRPr/>
            </a:p>
          </p:txBody>
        </p:sp>
      </p:grpSp>
      <p:grpSp>
        <p:nvGrpSpPr>
          <p:cNvPr id="932" name="Google Shape;932;p34"/>
          <p:cNvGrpSpPr/>
          <p:nvPr/>
        </p:nvGrpSpPr>
        <p:grpSpPr>
          <a:xfrm>
            <a:off x="7670856" y="5787024"/>
            <a:ext cx="2954165" cy="629657"/>
            <a:chOff x="6028210" y="2256840"/>
            <a:chExt cx="2954165" cy="629657"/>
          </a:xfrm>
        </p:grpSpPr>
        <p:sp>
          <p:nvSpPr>
            <p:cNvPr id="933" name="Google Shape;933;p34"/>
            <p:cNvSpPr/>
            <p:nvPr/>
          </p:nvSpPr>
          <p:spPr>
            <a:xfrm>
              <a:off x="6028210" y="2256840"/>
              <a:ext cx="2954165" cy="629657"/>
            </a:xfrm>
            <a:prstGeom prst="chevron">
              <a:avLst>
                <a:gd fmla="val 50000" name="adj"/>
              </a:avLst>
            </a:prstGeom>
            <a:solidFill>
              <a:srgbClr val="1BBE9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4" name="Google Shape;934;p34"/>
            <p:cNvSpPr txBox="1"/>
            <p:nvPr/>
          </p:nvSpPr>
          <p:spPr>
            <a:xfrm>
              <a:off x="6343039" y="2256840"/>
              <a:ext cx="2324508" cy="629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50" lIns="56000" spcFirstLastPara="1" rIns="18650" wrap="square" tIns="18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venir"/>
                <a:buNone/>
              </a:pPr>
              <a:r>
                <a:rPr lang="en-US" sz="14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Pymc3</a:t>
              </a:r>
              <a:endParaRPr/>
            </a:p>
          </p:txBody>
        </p:sp>
      </p:grpSp>
      <p:pic>
        <p:nvPicPr>
          <p:cNvPr id="935" name="Google Shape;935;p34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936" name="Google Shape;936;p34"/>
          <p:cNvSpPr txBox="1"/>
          <p:nvPr/>
        </p:nvSpPr>
        <p:spPr>
          <a:xfrm>
            <a:off x="1102928" y="-50579"/>
            <a:ext cx="8274977" cy="44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None/>
            </a:pPr>
            <a:r>
              <a:rPr lang="en-US" sz="2000">
                <a:solidFill>
                  <a:srgbClr val="168E7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Linear Regression: 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9292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regressions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9292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statistical modeling how can we model it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9292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problem in Linear Regression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9292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address correlation problem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9292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Summarizing posterior of Linear Model</a:t>
            </a:r>
            <a:endParaRPr/>
          </a:p>
          <a:p>
            <a:pPr indent="-514350" lvl="1" marL="97155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9292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Plotting slope and intercept </a:t>
            </a:r>
            <a:endParaRPr/>
          </a:p>
          <a:p>
            <a:pPr indent="-514350" lvl="1" marL="97155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9292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Posterior predictive Checks(PPC) of slope and intercept</a:t>
            </a:r>
            <a:endParaRPr/>
          </a:p>
          <a:p>
            <a:pPr indent="-514350" lvl="1" marL="97155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9292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of 50% and 94% HDI of future data/ simulated data</a:t>
            </a:r>
            <a:endParaRPr/>
          </a:p>
          <a:p>
            <a:pPr indent="-514350" lvl="0" marL="514350" marR="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Pearson Correlation Coefficient</a:t>
            </a:r>
            <a:endParaRPr/>
          </a:p>
          <a:p>
            <a:pPr indent="-514350" lvl="1" marL="97155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need to study Pearson coefficient</a:t>
            </a:r>
            <a:endParaRPr/>
          </a:p>
          <a:p>
            <a:pPr indent="-514350" lvl="1" marL="97155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toy example of Pearson…</a:t>
            </a:r>
            <a:endParaRPr/>
          </a:p>
          <a:p>
            <a:pPr indent="-514350" lvl="1" marL="97155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Determination Coefficient</a:t>
            </a:r>
            <a:endParaRPr/>
          </a:p>
          <a:p>
            <a:pPr indent="-514350" lvl="1" marL="97155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 via Multi-variate Gaussian </a:t>
            </a:r>
            <a:endParaRPr/>
          </a:p>
          <a:p>
            <a:pPr indent="-514350" lvl="1" marL="97155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Pymc practice on above concepts.</a:t>
            </a:r>
            <a:endParaRPr/>
          </a:p>
          <a:p>
            <a:pPr indent="-387350" lvl="1" marL="97155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5"/>
          <p:cNvSpPr txBox="1"/>
          <p:nvPr>
            <p:ph idx="1" type="subTitle"/>
          </p:nvPr>
        </p:nvSpPr>
        <p:spPr>
          <a:xfrm>
            <a:off x="7642254" y="669856"/>
            <a:ext cx="3940145" cy="1451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943" name="Google Shape;943;p35"/>
          <p:cNvPicPr preferRelativeResize="0"/>
          <p:nvPr/>
        </p:nvPicPr>
        <p:blipFill rotWithShape="1">
          <a:blip r:embed="rId3">
            <a:alphaModFix amt="2000"/>
          </a:blip>
          <a:srcRect b="0" l="6947" r="6947" t="0"/>
          <a:stretch/>
        </p:blipFill>
        <p:spPr>
          <a:xfrm>
            <a:off x="-609601" y="1352491"/>
            <a:ext cx="12192000" cy="6829512"/>
          </a:xfrm>
          <a:prstGeom prst="rect">
            <a:avLst/>
          </a:prstGeom>
          <a:noFill/>
          <a:ln>
            <a:noFill/>
          </a:ln>
          <a:effectLst>
            <a:outerShdw blurRad="50800" rotWithShape="0" algn="ctr" dir="5400000" dist="50800">
              <a:srgbClr val="000000">
                <a:alpha val="18039"/>
              </a:srgbClr>
            </a:outerShdw>
            <a:reflection blurRad="0" dir="5400000" dist="50800" endA="0" endPos="65000" kx="0" rotWithShape="0" algn="bl" stA="20000" stPos="0" sy="-100000" ky="0"/>
          </a:effectLst>
        </p:spPr>
      </p:pic>
      <p:sp>
        <p:nvSpPr>
          <p:cNvPr id="944" name="Google Shape;944;p35"/>
          <p:cNvSpPr/>
          <p:nvPr/>
        </p:nvSpPr>
        <p:spPr>
          <a:xfrm>
            <a:off x="0" y="6459794"/>
            <a:ext cx="12192000" cy="398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58A7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5" name="Google Shape;945;p35"/>
          <p:cNvSpPr txBox="1"/>
          <p:nvPr/>
        </p:nvSpPr>
        <p:spPr>
          <a:xfrm>
            <a:off x="838200" y="65113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35"/>
          <p:cNvSpPr txBox="1"/>
          <p:nvPr/>
        </p:nvSpPr>
        <p:spPr>
          <a:xfrm>
            <a:off x="169606" y="452127"/>
            <a:ext cx="10387818" cy="738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7" name="Google Shape;947;p35"/>
          <p:cNvSpPr txBox="1"/>
          <p:nvPr>
            <p:ph idx="12" type="sldNum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8" name="Google Shape;948;p35"/>
          <p:cNvSpPr/>
          <p:nvPr/>
        </p:nvSpPr>
        <p:spPr>
          <a:xfrm>
            <a:off x="290222" y="3754100"/>
            <a:ext cx="9982200" cy="1092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Let's do it in pymc</a:t>
            </a:r>
            <a:endParaRPr sz="6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logo with orange and grey circles&#10;&#10;Description automatically generated" id="949" name="Google Shape;94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9059" y="561272"/>
            <a:ext cx="3583194" cy="4153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hapesVTI">
  <a:themeElements>
    <a:clrScheme name="AnalogousFromLightSeedLeftStep">
      <a:dk1>
        <a:srgbClr val="000000"/>
      </a:dk1>
      <a:lt1>
        <a:srgbClr val="FFFFFF"/>
      </a:lt1>
      <a:dk2>
        <a:srgbClr val="272441"/>
      </a:dk2>
      <a:lt2>
        <a:srgbClr val="E2E8E2"/>
      </a:lt2>
      <a:accent1>
        <a:srgbClr val="E272EA"/>
      </a:accent1>
      <a:accent2>
        <a:srgbClr val="9E53E6"/>
      </a:accent2>
      <a:accent3>
        <a:srgbClr val="7D72EA"/>
      </a:accent3>
      <a:accent4>
        <a:srgbClr val="5382E6"/>
      </a:accent4>
      <a:accent5>
        <a:srgbClr val="2CAEDD"/>
      </a:accent5>
      <a:accent6>
        <a:srgbClr val="41B5A3"/>
      </a:accent6>
      <a:hlink>
        <a:srgbClr val="5A8E56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ketchyVTI">
  <a:themeElements>
    <a:clrScheme name="AnalogousFromRegularSeedRightStep">
      <a:dk1>
        <a:srgbClr val="000000"/>
      </a:dk1>
      <a:lt1>
        <a:srgbClr val="FFFFFF"/>
      </a:lt1>
      <a:dk2>
        <a:srgbClr val="273B21"/>
      </a:dk2>
      <a:lt2>
        <a:srgbClr val="E2E6E8"/>
      </a:lt2>
      <a:accent1>
        <a:srgbClr val="E76E29"/>
      </a:accent1>
      <a:accent2>
        <a:srgbClr val="C39D15"/>
      </a:accent2>
      <a:accent3>
        <a:srgbClr val="92AE1F"/>
      </a:accent3>
      <a:accent4>
        <a:srgbClr val="53B714"/>
      </a:accent4>
      <a:accent5>
        <a:srgbClr val="21B926"/>
      </a:accent5>
      <a:accent6>
        <a:srgbClr val="14BB5F"/>
      </a:accent6>
      <a:hlink>
        <a:srgbClr val="3C8AB6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VTI">
  <a:themeElements>
    <a:clrScheme name="AnalogousFromDarkSeed_2SEEDS">
      <a:dk1>
        <a:srgbClr val="000000"/>
      </a:dk1>
      <a:lt1>
        <a:srgbClr val="FFFFFF"/>
      </a:lt1>
      <a:dk2>
        <a:srgbClr val="3E3423"/>
      </a:dk2>
      <a:lt2>
        <a:srgbClr val="E2E4E8"/>
      </a:lt2>
      <a:accent1>
        <a:srgbClr val="B1863B"/>
      </a:accent1>
      <a:accent2>
        <a:srgbClr val="C3674D"/>
      </a:accent2>
      <a:accent3>
        <a:srgbClr val="A1A641"/>
      </a:accent3>
      <a:accent4>
        <a:srgbClr val="4CB13B"/>
      </a:accent4>
      <a:accent5>
        <a:srgbClr val="47B665"/>
      </a:accent5>
      <a:accent6>
        <a:srgbClr val="3BB18C"/>
      </a:accent6>
      <a:hlink>
        <a:srgbClr val="30923E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plashVTI">
  <a:themeElements>
    <a:clrScheme name="Custom 11">
      <a:dk1>
        <a:srgbClr val="262626"/>
      </a:dk1>
      <a:lt1>
        <a:srgbClr val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inLineVTI">
  <a:themeElements>
    <a:clrScheme name="AnalogousFromLightSeedRightStep">
      <a:dk1>
        <a:srgbClr val="000000"/>
      </a:dk1>
      <a:lt1>
        <a:srgbClr val="FFFFFF"/>
      </a:lt1>
      <a:dk2>
        <a:srgbClr val="412A24"/>
      </a:dk2>
      <a:lt2>
        <a:srgbClr val="E2E7E8"/>
      </a:lt2>
      <a:accent1>
        <a:srgbClr val="C2988E"/>
      </a:accent1>
      <a:accent2>
        <a:srgbClr val="B8A07D"/>
      </a:accent2>
      <a:accent3>
        <a:srgbClr val="A5A67D"/>
      </a:accent3>
      <a:accent4>
        <a:srgbClr val="94AC75"/>
      </a:accent4>
      <a:accent5>
        <a:srgbClr val="87AB81"/>
      </a:accent5>
      <a:accent6>
        <a:srgbClr val="77AF86"/>
      </a:accent6>
      <a:hlink>
        <a:srgbClr val="5B8B96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2023-01-24T08:26:32Z</dcterms:created>
  <dc:creator>Muhammad Almas Khan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etDate">
    <vt:lpwstr>2020-03-13T04:15:13Z</vt:lpwstr>
  </property>
  <property fmtid="{D5CDD505-2E9C-101B-9397-08002B2CF9AE}" pid="4" name="MSIP_Label_f42aa342-8706-4288-bd11-ebb85995028c_Method">
    <vt:lpwstr>Standard</vt:lpwstr>
  </property>
  <property fmtid="{D5CDD505-2E9C-101B-9397-08002B2CF9AE}" pid="5" name="MSIP_Label_f42aa342-8706-4288-bd11-ebb85995028c_Name">
    <vt:lpwstr>Internal</vt:lpwstr>
  </property>
  <property fmtid="{D5CDD505-2E9C-101B-9397-08002B2CF9AE}" pid="6" name="MSIP_Label_f42aa342-8706-4288-bd11-ebb85995028c_SiteId">
    <vt:lpwstr>72f988bf-86f1-41af-91ab-2d7cd011db47</vt:lpwstr>
  </property>
  <property fmtid="{D5CDD505-2E9C-101B-9397-08002B2CF9AE}" pid="7" name="MSIP_Label_f42aa342-8706-4288-bd11-ebb85995028c_ActionId">
    <vt:lpwstr>4ddf67fa-94c4-4d54-a3db-00003dcf17f4</vt:lpwstr>
  </property>
  <property fmtid="{D5CDD505-2E9C-101B-9397-08002B2CF9AE}" pid="8" name="MSIP_Label_f42aa342-8706-4288-bd11-ebb85995028c_ContentBits">
    <vt:lpwstr>0</vt:lpwstr>
  </property>
</Properties>
</file>